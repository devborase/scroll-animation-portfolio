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01" y="269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3915" y="248869"/>
            <a:ext cx="6234430" cy="331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65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46167" y="445719"/>
            <a:ext cx="29190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Automotive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Plastic Part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Design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782058" y="812114"/>
            <a:ext cx="260032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0" dirty="0">
                <a:latin typeface="Times New Roman"/>
                <a:cs typeface="Times New Roman"/>
              </a:rPr>
              <a:t>Auto</a:t>
            </a:r>
            <a:r>
              <a:rPr sz="2500" b="0" spc="-60" dirty="0">
                <a:latin typeface="Times New Roman"/>
                <a:cs typeface="Times New Roman"/>
              </a:rPr>
              <a:t> </a:t>
            </a:r>
            <a:r>
              <a:rPr sz="2500" b="0" dirty="0">
                <a:latin typeface="Times New Roman"/>
                <a:cs typeface="Times New Roman"/>
              </a:rPr>
              <a:t>Switch</a:t>
            </a:r>
            <a:r>
              <a:rPr sz="2500" b="0" spc="-55" dirty="0">
                <a:latin typeface="Times New Roman"/>
                <a:cs typeface="Times New Roman"/>
              </a:rPr>
              <a:t> </a:t>
            </a:r>
            <a:r>
              <a:rPr sz="2500" b="0" spc="-10" dirty="0">
                <a:latin typeface="Times New Roman"/>
                <a:cs typeface="Times New Roman"/>
              </a:rPr>
              <a:t>Design</a:t>
            </a:r>
            <a:endParaRPr sz="25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17773" y="1451991"/>
            <a:ext cx="6156325" cy="394296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13237" y="5927284"/>
            <a:ext cx="2943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BY_DEVANSHU_BORASE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Objective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915" y="626109"/>
            <a:ext cx="10885805" cy="196977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 algn="just">
              <a:lnSpc>
                <a:spcPts val="1620"/>
              </a:lnSpc>
              <a:spcBef>
                <a:spcPts val="305"/>
              </a:spcBef>
            </a:pP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objective</a:t>
            </a:r>
            <a:r>
              <a:rPr sz="1500" spc="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this</a:t>
            </a:r>
            <a:r>
              <a:rPr sz="1500" spc="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project</a:t>
            </a:r>
            <a:r>
              <a:rPr sz="1500" spc="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is</a:t>
            </a:r>
            <a:r>
              <a:rPr sz="1500" spc="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design</a:t>
            </a:r>
            <a:r>
              <a:rPr sz="1500" spc="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switch</a:t>
            </a:r>
            <a:r>
              <a:rPr sz="1500" spc="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cover</a:t>
            </a:r>
            <a:r>
              <a:rPr sz="1500" spc="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using</a:t>
            </a:r>
            <a:r>
              <a:rPr sz="1500" spc="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provided</a:t>
            </a:r>
            <a:r>
              <a:rPr sz="1500" spc="5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Class-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</a:t>
            </a:r>
            <a:r>
              <a:rPr sz="1500" spc="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Master</a:t>
            </a:r>
            <a:r>
              <a:rPr sz="1500" spc="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Section.</a:t>
            </a:r>
            <a:r>
              <a:rPr sz="1500" spc="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design</a:t>
            </a:r>
            <a:r>
              <a:rPr sz="1500" spc="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process</a:t>
            </a:r>
            <a:r>
              <a:rPr sz="1500" spc="5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involves </a:t>
            </a:r>
            <a:r>
              <a:rPr sz="1500" dirty="0">
                <a:latin typeface="Times New Roman"/>
                <a:cs typeface="Times New Roman"/>
              </a:rPr>
              <a:t>establishing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appropriate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tooling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axis,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ensuring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compliance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with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angle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requirements,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finally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conducting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analysis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validate </a:t>
            </a:r>
            <a:r>
              <a:rPr sz="1500" dirty="0">
                <a:latin typeface="Times New Roman"/>
                <a:cs typeface="Times New Roman"/>
              </a:rPr>
              <a:t>manufacturability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design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integrity.</a:t>
            </a:r>
            <a:endParaRPr sz="15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615"/>
              </a:spcBef>
            </a:pPr>
            <a:r>
              <a:rPr sz="2000" b="1" spc="-10" dirty="0">
                <a:latin typeface="Times New Roman"/>
                <a:cs typeface="Times New Roman"/>
              </a:rPr>
              <a:t>Class</a:t>
            </a:r>
            <a:r>
              <a:rPr sz="2000" b="1" spc="-1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</a:t>
            </a:r>
            <a:r>
              <a:rPr sz="2000" b="1" spc="-10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Surface</a:t>
            </a:r>
            <a:r>
              <a:rPr sz="2000" b="1" spc="-13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Analysis</a:t>
            </a:r>
            <a:endParaRPr sz="20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spcBef>
                <a:spcPts val="565"/>
              </a:spcBef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Import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Class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software.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Join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imported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with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merging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distance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0.01mm.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Check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any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missing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tangency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errors.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this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case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all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are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joining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at</a:t>
            </a:r>
            <a:r>
              <a:rPr sz="1500" spc="-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given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merging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distance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there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are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no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missing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or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any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tangency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errors.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39542" y="2720708"/>
            <a:ext cx="6694170" cy="37114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Tooling</a:t>
            </a:r>
            <a:r>
              <a:rPr spc="-135" dirty="0"/>
              <a:t> </a:t>
            </a:r>
            <a:r>
              <a:rPr dirty="0"/>
              <a:t>Axis</a:t>
            </a:r>
            <a:r>
              <a:rPr spc="-25" dirty="0"/>
              <a:t> </a:t>
            </a:r>
            <a:r>
              <a:rPr dirty="0"/>
              <a:t>Creation</a:t>
            </a:r>
            <a:r>
              <a:rPr spc="-25" dirty="0"/>
              <a:t> </a:t>
            </a:r>
            <a:r>
              <a:rPr dirty="0"/>
              <a:t>and</a:t>
            </a:r>
            <a:r>
              <a:rPr spc="5" dirty="0"/>
              <a:t> </a:t>
            </a:r>
            <a:r>
              <a:rPr spc="-10" dirty="0"/>
              <a:t>Class</a:t>
            </a:r>
            <a:r>
              <a:rPr spc="-135" dirty="0"/>
              <a:t> </a:t>
            </a:r>
            <a:r>
              <a:rPr spc="-20" dirty="0"/>
              <a:t>A</a:t>
            </a:r>
            <a:r>
              <a:rPr spc="-110" dirty="0"/>
              <a:t> </a:t>
            </a:r>
            <a:r>
              <a:rPr dirty="0"/>
              <a:t>Surface</a:t>
            </a:r>
            <a:r>
              <a:rPr spc="-25" dirty="0"/>
              <a:t> </a:t>
            </a:r>
            <a:r>
              <a:rPr dirty="0"/>
              <a:t>Draft</a:t>
            </a:r>
            <a:r>
              <a:rPr spc="-140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915" y="626109"/>
            <a:ext cx="10290175" cy="39579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710"/>
              </a:lnSpc>
              <a:spcBef>
                <a:spcPts val="100"/>
              </a:spcBef>
            </a:pPr>
            <a:r>
              <a:rPr sz="1500" b="1" spc="-30" dirty="0">
                <a:latin typeface="Times New Roman"/>
                <a:cs typeface="Times New Roman"/>
              </a:rPr>
              <a:t>Tooling</a:t>
            </a:r>
            <a:r>
              <a:rPr sz="1500" b="1" spc="-9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Axis</a:t>
            </a:r>
            <a:r>
              <a:rPr sz="1500" b="1" spc="3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Creation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Establish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tooling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axis for</a:t>
            </a:r>
            <a:r>
              <a:rPr sz="1500" spc="-10" dirty="0">
                <a:latin typeface="Times New Roman"/>
                <a:cs typeface="Times New Roman"/>
              </a:rPr>
              <a:t> manufacturability.</a:t>
            </a:r>
            <a:r>
              <a:rPr sz="1500" spc="-114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Analyze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geometry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feasible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mold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opening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direction.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this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case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will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first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check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tooling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direction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assembly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direction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(i.e.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Z-</a:t>
            </a:r>
            <a:r>
              <a:rPr sz="1500" dirty="0">
                <a:latin typeface="Times New Roman"/>
                <a:cs typeface="Times New Roman"/>
              </a:rPr>
              <a:t>Axis)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modify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tooling</a:t>
            </a:r>
            <a:r>
              <a:rPr sz="1500" spc="-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axis if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required.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10"/>
              </a:lnSpc>
              <a:spcBef>
                <a:spcPts val="1440"/>
              </a:spcBef>
            </a:pPr>
            <a:r>
              <a:rPr sz="1500" b="1" dirty="0">
                <a:latin typeface="Times New Roman"/>
                <a:cs typeface="Times New Roman"/>
              </a:rPr>
              <a:t>Apply</a:t>
            </a:r>
            <a:r>
              <a:rPr sz="1500" b="1" spc="-2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Draft</a:t>
            </a:r>
            <a:r>
              <a:rPr sz="1500" b="1" spc="-8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Angles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Ensure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angles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meet industry</a:t>
            </a:r>
            <a:r>
              <a:rPr sz="1500" spc="-5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standards.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Apply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minimum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angle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(commonly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3°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plastics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depend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on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grain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pattern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can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change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50" dirty="0">
                <a:latin typeface="Times New Roman"/>
                <a:cs typeface="Times New Roman"/>
              </a:rPr>
              <a:t>)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Adjust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maintain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styling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intent,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spc="-25" dirty="0">
                <a:latin typeface="Times New Roman"/>
                <a:cs typeface="Times New Roman"/>
              </a:rPr>
              <a:t>Verify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consistency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across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all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faces.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10"/>
              </a:lnSpc>
              <a:spcBef>
                <a:spcPts val="1440"/>
              </a:spcBef>
            </a:pPr>
            <a:r>
              <a:rPr sz="1500" b="1" dirty="0">
                <a:latin typeface="Times New Roman"/>
                <a:cs typeface="Times New Roman"/>
              </a:rPr>
              <a:t>Perform</a:t>
            </a:r>
            <a:r>
              <a:rPr sz="1500" b="1" spc="-4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Draft</a:t>
            </a:r>
            <a:r>
              <a:rPr sz="1500" b="1" spc="-9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Analysis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Check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manufacturability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through</a:t>
            </a:r>
            <a:r>
              <a:rPr sz="1500" spc="-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analysis.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Run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analysis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CAD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software.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Highlight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positive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 negative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regions.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Confirm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all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meet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tooling</a:t>
            </a:r>
            <a:r>
              <a:rPr sz="1500" spc="-5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requirements.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10"/>
              </a:lnSpc>
              <a:spcBef>
                <a:spcPts val="1440"/>
              </a:spcBef>
            </a:pPr>
            <a:r>
              <a:rPr sz="1500" b="1" spc="-10" dirty="0">
                <a:latin typeface="Times New Roman"/>
                <a:cs typeface="Times New Roman"/>
              </a:rPr>
              <a:t>Results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spc="-10" dirty="0">
                <a:latin typeface="Times New Roman"/>
                <a:cs typeface="Times New Roman"/>
              </a:rPr>
              <a:t>Tooling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direction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rotated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clear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draft.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All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are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clearing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given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tooling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direction.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24728" y="2352801"/>
            <a:ext cx="5483352" cy="394698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Curvature</a:t>
            </a:r>
            <a:r>
              <a:rPr spc="-95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915" y="626109"/>
            <a:ext cx="11257915" cy="459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ts val="171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This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analysis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check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minimum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radius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plastic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part,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if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part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clears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minimum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radius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criteria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according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ECE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R21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(i.e.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2.5mm).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this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part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highlighted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area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doesn't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follow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ECE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spc="-20" dirty="0">
                <a:latin typeface="Times New Roman"/>
                <a:cs typeface="Times New Roman"/>
              </a:rPr>
              <a:t>R21.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708148" y="1176400"/>
            <a:ext cx="6156960" cy="5060315"/>
            <a:chOff x="2708148" y="1176400"/>
            <a:chExt cx="6156960" cy="5060315"/>
          </a:xfrm>
        </p:grpSpPr>
        <p:sp>
          <p:nvSpPr>
            <p:cNvPr id="5" name="object 5"/>
            <p:cNvSpPr/>
            <p:nvPr/>
          </p:nvSpPr>
          <p:spPr>
            <a:xfrm>
              <a:off x="6437376" y="4096511"/>
              <a:ext cx="567055" cy="475615"/>
            </a:xfrm>
            <a:custGeom>
              <a:avLst/>
              <a:gdLst/>
              <a:ahLst/>
              <a:cxnLst/>
              <a:rect l="l" t="t" r="r" b="b"/>
              <a:pathLst>
                <a:path w="567054" h="475614">
                  <a:moveTo>
                    <a:pt x="0" y="237744"/>
                  </a:moveTo>
                  <a:lnTo>
                    <a:pt x="4565" y="195005"/>
                  </a:lnTo>
                  <a:lnTo>
                    <a:pt x="17729" y="154781"/>
                  </a:lnTo>
                  <a:lnTo>
                    <a:pt x="38692" y="117743"/>
                  </a:lnTo>
                  <a:lnTo>
                    <a:pt x="66654" y="84562"/>
                  </a:lnTo>
                  <a:lnTo>
                    <a:pt x="100816" y="55909"/>
                  </a:lnTo>
                  <a:lnTo>
                    <a:pt x="140377" y="32455"/>
                  </a:lnTo>
                  <a:lnTo>
                    <a:pt x="184538" y="14872"/>
                  </a:lnTo>
                  <a:lnTo>
                    <a:pt x="232500" y="3829"/>
                  </a:lnTo>
                  <a:lnTo>
                    <a:pt x="283464" y="0"/>
                  </a:lnTo>
                  <a:lnTo>
                    <a:pt x="334427" y="3829"/>
                  </a:lnTo>
                  <a:lnTo>
                    <a:pt x="382389" y="14872"/>
                  </a:lnTo>
                  <a:lnTo>
                    <a:pt x="426550" y="32455"/>
                  </a:lnTo>
                  <a:lnTo>
                    <a:pt x="466111" y="55909"/>
                  </a:lnTo>
                  <a:lnTo>
                    <a:pt x="500273" y="84562"/>
                  </a:lnTo>
                  <a:lnTo>
                    <a:pt x="528235" y="117743"/>
                  </a:lnTo>
                  <a:lnTo>
                    <a:pt x="549198" y="154781"/>
                  </a:lnTo>
                  <a:lnTo>
                    <a:pt x="562362" y="195005"/>
                  </a:lnTo>
                  <a:lnTo>
                    <a:pt x="566927" y="237744"/>
                  </a:lnTo>
                  <a:lnTo>
                    <a:pt x="562362" y="280482"/>
                  </a:lnTo>
                  <a:lnTo>
                    <a:pt x="549198" y="320706"/>
                  </a:lnTo>
                  <a:lnTo>
                    <a:pt x="528235" y="357744"/>
                  </a:lnTo>
                  <a:lnTo>
                    <a:pt x="500273" y="390925"/>
                  </a:lnTo>
                  <a:lnTo>
                    <a:pt x="466111" y="419578"/>
                  </a:lnTo>
                  <a:lnTo>
                    <a:pt x="426550" y="443032"/>
                  </a:lnTo>
                  <a:lnTo>
                    <a:pt x="382389" y="460615"/>
                  </a:lnTo>
                  <a:lnTo>
                    <a:pt x="334427" y="471658"/>
                  </a:lnTo>
                  <a:lnTo>
                    <a:pt x="283464" y="475488"/>
                  </a:lnTo>
                  <a:lnTo>
                    <a:pt x="232500" y="471658"/>
                  </a:lnTo>
                  <a:lnTo>
                    <a:pt x="184538" y="460615"/>
                  </a:lnTo>
                  <a:lnTo>
                    <a:pt x="140377" y="443032"/>
                  </a:lnTo>
                  <a:lnTo>
                    <a:pt x="100816" y="419578"/>
                  </a:lnTo>
                  <a:lnTo>
                    <a:pt x="66654" y="390925"/>
                  </a:lnTo>
                  <a:lnTo>
                    <a:pt x="38692" y="357744"/>
                  </a:lnTo>
                  <a:lnTo>
                    <a:pt x="17729" y="320706"/>
                  </a:lnTo>
                  <a:lnTo>
                    <a:pt x="4565" y="280482"/>
                  </a:lnTo>
                  <a:lnTo>
                    <a:pt x="0" y="237744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08148" y="1176400"/>
              <a:ext cx="6156959" cy="505980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Class</a:t>
            </a:r>
            <a:r>
              <a:rPr spc="-25" dirty="0"/>
              <a:t> </a:t>
            </a:r>
            <a:r>
              <a:rPr dirty="0"/>
              <a:t>B</a:t>
            </a:r>
            <a:r>
              <a:rPr spc="-15" dirty="0"/>
              <a:t> </a:t>
            </a:r>
            <a:r>
              <a:rPr dirty="0"/>
              <a:t>Surface</a:t>
            </a:r>
            <a:r>
              <a:rPr spc="-40" dirty="0"/>
              <a:t> </a:t>
            </a:r>
            <a:r>
              <a:rPr spc="-10" dirty="0"/>
              <a:t>Development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915" y="626109"/>
            <a:ext cx="6423025" cy="2312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710"/>
              </a:lnSpc>
              <a:spcBef>
                <a:spcPts val="100"/>
              </a:spcBef>
            </a:pPr>
            <a:r>
              <a:rPr sz="1500" b="1" dirty="0">
                <a:latin typeface="Times New Roman"/>
                <a:cs typeface="Times New Roman"/>
              </a:rPr>
              <a:t>Offset</a:t>
            </a:r>
            <a:r>
              <a:rPr sz="1500" b="1" spc="-3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Class</a:t>
            </a:r>
            <a:r>
              <a:rPr sz="1500" b="1" spc="-9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A</a:t>
            </a:r>
            <a:r>
              <a:rPr sz="1500" b="1" spc="-9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Surface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Create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2.5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mm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offset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entire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Class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define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base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thickness.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Note: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Complex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regions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may fail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offset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correctly,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especially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filleted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areas.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10"/>
              </a:lnSpc>
              <a:spcBef>
                <a:spcPts val="1440"/>
              </a:spcBef>
            </a:pPr>
            <a:r>
              <a:rPr sz="1500" b="1" dirty="0">
                <a:latin typeface="Times New Roman"/>
                <a:cs typeface="Times New Roman"/>
              </a:rPr>
              <a:t>Identify</a:t>
            </a:r>
            <a:r>
              <a:rPr sz="1500" b="1" spc="-4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Missing/Failed</a:t>
            </a:r>
            <a:r>
              <a:rPr sz="1500" b="1" spc="-6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Regions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spc="-45" dirty="0">
                <a:latin typeface="Times New Roman"/>
                <a:cs typeface="Times New Roman"/>
              </a:rPr>
              <a:t>CATIA</a:t>
            </a:r>
            <a:r>
              <a:rPr sz="1500" spc="-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highlights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sub-</a:t>
            </a:r>
            <a:r>
              <a:rPr sz="1500" dirty="0">
                <a:latin typeface="Times New Roman"/>
                <a:cs typeface="Times New Roman"/>
              </a:rPr>
              <a:t>elements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(fillets,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patches)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that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cannot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offset.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These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must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reconstructed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manually.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10"/>
              </a:lnSpc>
              <a:spcBef>
                <a:spcPts val="1440"/>
              </a:spcBef>
            </a:pPr>
            <a:r>
              <a:rPr sz="1500" b="1" dirty="0">
                <a:latin typeface="Times New Roman"/>
                <a:cs typeface="Times New Roman"/>
              </a:rPr>
              <a:t>Manual</a:t>
            </a:r>
            <a:r>
              <a:rPr sz="1500" b="1" spc="-4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patch</a:t>
            </a:r>
            <a:r>
              <a:rPr sz="1500" b="1" spc="-3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creation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Extrapolate</a:t>
            </a:r>
            <a:r>
              <a:rPr sz="1500" spc="-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trim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then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apply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fillet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accordingly.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spc="-10" dirty="0">
                <a:latin typeface="Times New Roman"/>
                <a:cs typeface="Times New Roman"/>
              </a:rPr>
              <a:t>Extrapolate</a:t>
            </a:r>
            <a:r>
              <a:rPr sz="1500" spc="-1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7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match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with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given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multi-section.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97040" y="961008"/>
            <a:ext cx="5187441" cy="384047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5175" y="3286125"/>
            <a:ext cx="4754880" cy="331647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Class</a:t>
            </a:r>
            <a:r>
              <a:rPr spc="-35" dirty="0"/>
              <a:t> </a:t>
            </a:r>
            <a:r>
              <a:rPr dirty="0"/>
              <a:t>C</a:t>
            </a:r>
            <a:r>
              <a:rPr spc="-15" dirty="0"/>
              <a:t> </a:t>
            </a:r>
            <a:r>
              <a:rPr dirty="0"/>
              <a:t>Surface</a:t>
            </a:r>
            <a:r>
              <a:rPr spc="-40" dirty="0"/>
              <a:t> </a:t>
            </a:r>
            <a:r>
              <a:rPr spc="-10" dirty="0"/>
              <a:t>Development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915" y="626109"/>
            <a:ext cx="5241290" cy="5398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710"/>
              </a:lnSpc>
              <a:spcBef>
                <a:spcPts val="100"/>
              </a:spcBef>
            </a:pPr>
            <a:r>
              <a:rPr sz="1500" b="1" dirty="0">
                <a:latin typeface="Times New Roman"/>
                <a:cs typeface="Times New Roman"/>
              </a:rPr>
              <a:t>Identify</a:t>
            </a:r>
            <a:r>
              <a:rPr sz="1500" b="1" spc="-2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Boundary</a:t>
            </a:r>
            <a:r>
              <a:rPr sz="1500" b="1" spc="-3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of</a:t>
            </a:r>
            <a:r>
              <a:rPr sz="1500" b="1" spc="-2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Class</a:t>
            </a:r>
            <a:r>
              <a:rPr sz="1500" b="1" spc="-8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A</a:t>
            </a:r>
            <a:r>
              <a:rPr sz="1500" b="1" spc="-9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Surface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Extract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boundary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edges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Class</a:t>
            </a:r>
            <a:r>
              <a:rPr sz="1500" spc="-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9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surface.</a:t>
            </a:r>
            <a:endParaRPr sz="1500">
              <a:latin typeface="Times New Roman"/>
              <a:cs typeface="Times New Roman"/>
            </a:endParaRPr>
          </a:p>
          <a:p>
            <a:pPr marL="299085" marR="6985" indent="-287020">
              <a:lnSpc>
                <a:spcPts val="1620"/>
              </a:lnSpc>
              <a:spcBef>
                <a:spcPts val="115"/>
              </a:spcBef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These</a:t>
            </a:r>
            <a:r>
              <a:rPr sz="1500" spc="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edges</a:t>
            </a:r>
            <a:r>
              <a:rPr sz="1500" spc="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will</a:t>
            </a:r>
            <a:r>
              <a:rPr sz="1500" spc="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serve</a:t>
            </a:r>
            <a:r>
              <a:rPr sz="1500" spc="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as</a:t>
            </a:r>
            <a:r>
              <a:rPr sz="1500" spc="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reference</a:t>
            </a:r>
            <a:r>
              <a:rPr sz="1500" spc="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creating</a:t>
            </a:r>
            <a:r>
              <a:rPr sz="1500" spc="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Class</a:t>
            </a:r>
            <a:r>
              <a:rPr sz="1500" spc="65" dirty="0">
                <a:latin typeface="Times New Roman"/>
                <a:cs typeface="Times New Roman"/>
              </a:rPr>
              <a:t> </a:t>
            </a:r>
            <a:r>
              <a:rPr sz="1500" spc="-50" dirty="0">
                <a:latin typeface="Times New Roman"/>
                <a:cs typeface="Times New Roman"/>
              </a:rPr>
              <a:t>C </a:t>
            </a:r>
            <a:r>
              <a:rPr sz="1500" spc="-10" dirty="0">
                <a:latin typeface="Times New Roman"/>
                <a:cs typeface="Times New Roman"/>
              </a:rPr>
              <a:t>surface.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10"/>
              </a:lnSpc>
              <a:spcBef>
                <a:spcPts val="1415"/>
              </a:spcBef>
            </a:pPr>
            <a:r>
              <a:rPr sz="1500" b="1" dirty="0">
                <a:latin typeface="Times New Roman"/>
                <a:cs typeface="Times New Roman"/>
              </a:rPr>
              <a:t>Define</a:t>
            </a:r>
            <a:r>
              <a:rPr sz="1500" b="1" spc="-15" dirty="0">
                <a:latin typeface="Times New Roman"/>
                <a:cs typeface="Times New Roman"/>
              </a:rPr>
              <a:t> </a:t>
            </a:r>
            <a:r>
              <a:rPr sz="1500" b="1" spc="-30" dirty="0">
                <a:latin typeface="Times New Roman"/>
                <a:cs typeface="Times New Roman"/>
              </a:rPr>
              <a:t>Tooling</a:t>
            </a:r>
            <a:r>
              <a:rPr sz="1500" b="1" spc="-95" dirty="0">
                <a:latin typeface="Times New Roman"/>
                <a:cs typeface="Times New Roman"/>
              </a:rPr>
              <a:t> </a:t>
            </a:r>
            <a:r>
              <a:rPr sz="1500" b="1" spc="-20" dirty="0">
                <a:latin typeface="Times New Roman"/>
                <a:cs typeface="Times New Roman"/>
              </a:rPr>
              <a:t>Axis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Establish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tooling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axis based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requirements.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This</a:t>
            </a:r>
            <a:r>
              <a:rPr sz="1500" spc="27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ensures</a:t>
            </a:r>
            <a:r>
              <a:rPr sz="1500" spc="2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that</a:t>
            </a:r>
            <a:r>
              <a:rPr sz="1500" spc="2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2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Class</a:t>
            </a:r>
            <a:r>
              <a:rPr sz="1500" spc="2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</a:t>
            </a:r>
            <a:r>
              <a:rPr sz="1500" spc="2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</a:t>
            </a:r>
            <a:r>
              <a:rPr sz="1500" spc="2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will</a:t>
            </a:r>
            <a:r>
              <a:rPr sz="1500" spc="2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be</a:t>
            </a:r>
            <a:r>
              <a:rPr sz="1500" spc="26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manufacturable</a:t>
            </a:r>
            <a:endParaRPr sz="1500">
              <a:latin typeface="Times New Roman"/>
              <a:cs typeface="Times New Roman"/>
            </a:endParaRPr>
          </a:p>
          <a:p>
            <a:pPr marL="299085">
              <a:lnSpc>
                <a:spcPts val="1710"/>
              </a:lnSpc>
            </a:pPr>
            <a:r>
              <a:rPr sz="1500" dirty="0">
                <a:latin typeface="Times New Roman"/>
                <a:cs typeface="Times New Roman"/>
              </a:rPr>
              <a:t>with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proper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angles.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10"/>
              </a:lnSpc>
              <a:spcBef>
                <a:spcPts val="1440"/>
              </a:spcBef>
            </a:pPr>
            <a:r>
              <a:rPr sz="1500" b="1" dirty="0">
                <a:latin typeface="Times New Roman"/>
                <a:cs typeface="Times New Roman"/>
              </a:rPr>
              <a:t>Sweep</a:t>
            </a:r>
            <a:r>
              <a:rPr sz="1500" b="1" spc="-4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Operation</a:t>
            </a:r>
            <a:endParaRPr sz="1500">
              <a:latin typeface="Times New Roman"/>
              <a:cs typeface="Times New Roman"/>
            </a:endParaRPr>
          </a:p>
          <a:p>
            <a:pPr marL="299085" marR="6985" indent="-287020">
              <a:lnSpc>
                <a:spcPts val="1620"/>
              </a:lnSpc>
              <a:spcBef>
                <a:spcPts val="110"/>
              </a:spcBef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Use</a:t>
            </a:r>
            <a:r>
              <a:rPr sz="1500" spc="3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3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Sweep</a:t>
            </a:r>
            <a:r>
              <a:rPr sz="1500" spc="3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command</a:t>
            </a:r>
            <a:r>
              <a:rPr sz="1500" spc="3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along</a:t>
            </a:r>
            <a:r>
              <a:rPr sz="1500" spc="3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3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tooling</a:t>
            </a:r>
            <a:r>
              <a:rPr sz="1500" spc="3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axis</a:t>
            </a:r>
            <a:r>
              <a:rPr sz="1500" spc="3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36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generate </a:t>
            </a:r>
            <a:r>
              <a:rPr sz="1500" dirty="0">
                <a:latin typeface="Times New Roman"/>
                <a:cs typeface="Times New Roman"/>
              </a:rPr>
              <a:t>Class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from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extracted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boundaries.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505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Apply</a:t>
            </a:r>
            <a:r>
              <a:rPr sz="1500" spc="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required</a:t>
            </a:r>
            <a:r>
              <a:rPr sz="1500" spc="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angle</a:t>
            </a:r>
            <a:r>
              <a:rPr sz="1500" spc="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(</a:t>
            </a:r>
            <a:r>
              <a:rPr sz="1500" spc="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3°</a:t>
            </a:r>
            <a:r>
              <a:rPr sz="1500" spc="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specified</a:t>
            </a:r>
            <a:r>
              <a:rPr sz="1500" spc="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class</a:t>
            </a:r>
            <a:r>
              <a:rPr sz="1500" spc="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surface</a:t>
            </a:r>
            <a:endParaRPr sz="1500">
              <a:latin typeface="Times New Roman"/>
              <a:cs typeface="Times New Roman"/>
            </a:endParaRPr>
          </a:p>
          <a:p>
            <a:pPr marL="299085">
              <a:lnSpc>
                <a:spcPts val="1710"/>
              </a:lnSpc>
            </a:pP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clear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cavity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side)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during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sweep.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10"/>
              </a:lnSpc>
              <a:spcBef>
                <a:spcPts val="1445"/>
              </a:spcBef>
            </a:pPr>
            <a:r>
              <a:rPr sz="1500" b="1" dirty="0">
                <a:latin typeface="Times New Roman"/>
                <a:cs typeface="Times New Roman"/>
              </a:rPr>
              <a:t>Check</a:t>
            </a:r>
            <a:r>
              <a:rPr sz="1500" b="1" spc="-4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Continuity</a:t>
            </a:r>
            <a:endParaRPr sz="1500">
              <a:latin typeface="Times New Roman"/>
              <a:cs typeface="Times New Roman"/>
            </a:endParaRPr>
          </a:p>
          <a:p>
            <a:pPr marL="299085" marR="6985" indent="-287020">
              <a:lnSpc>
                <a:spcPts val="1620"/>
              </a:lnSpc>
              <a:spcBef>
                <a:spcPts val="115"/>
              </a:spcBef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Verify</a:t>
            </a:r>
            <a:r>
              <a:rPr sz="1500" spc="1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that</a:t>
            </a:r>
            <a:r>
              <a:rPr sz="1500" spc="17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1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swept</a:t>
            </a:r>
            <a:r>
              <a:rPr sz="1500" spc="1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Class</a:t>
            </a:r>
            <a:r>
              <a:rPr sz="1500" spc="19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</a:t>
            </a:r>
            <a:r>
              <a:rPr sz="1500" spc="1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1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connect</a:t>
            </a:r>
            <a:r>
              <a:rPr sz="1500" spc="19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smoothly</a:t>
            </a:r>
            <a:r>
              <a:rPr sz="1500" spc="185" dirty="0">
                <a:latin typeface="Times New Roman"/>
                <a:cs typeface="Times New Roman"/>
              </a:rPr>
              <a:t> </a:t>
            </a:r>
            <a:r>
              <a:rPr sz="1500" spc="-20" dirty="0">
                <a:latin typeface="Times New Roman"/>
                <a:cs typeface="Times New Roman"/>
              </a:rPr>
              <a:t>with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Class</a:t>
            </a:r>
            <a:r>
              <a:rPr sz="1500" spc="-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 Class B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surfaces.</a:t>
            </a:r>
            <a:endParaRPr sz="1500">
              <a:latin typeface="Times New Roman"/>
              <a:cs typeface="Times New Roman"/>
            </a:endParaRPr>
          </a:p>
          <a:p>
            <a:pPr marL="299085" marR="6985" indent="-287020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Adjust</a:t>
            </a:r>
            <a:r>
              <a:rPr sz="1500" spc="49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sweep</a:t>
            </a:r>
            <a:r>
              <a:rPr sz="1500" spc="49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parameters</a:t>
            </a:r>
            <a:r>
              <a:rPr sz="1500" spc="60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or</a:t>
            </a:r>
            <a:r>
              <a:rPr sz="1500" spc="60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extend</a:t>
            </a:r>
            <a:r>
              <a:rPr sz="1500" spc="65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boundaries</a:t>
            </a:r>
            <a:r>
              <a:rPr sz="1500" spc="60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if</a:t>
            </a:r>
            <a:r>
              <a:rPr sz="1500" spc="60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gaps</a:t>
            </a:r>
            <a:r>
              <a:rPr sz="1500" spc="490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are </a:t>
            </a:r>
            <a:r>
              <a:rPr sz="1500" spc="-10" dirty="0">
                <a:latin typeface="Times New Roman"/>
                <a:cs typeface="Times New Roman"/>
              </a:rPr>
              <a:t>detected.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10"/>
              </a:lnSpc>
              <a:spcBef>
                <a:spcPts val="1415"/>
              </a:spcBef>
            </a:pPr>
            <a:r>
              <a:rPr sz="1500" b="1" dirty="0">
                <a:latin typeface="Times New Roman"/>
                <a:cs typeface="Times New Roman"/>
              </a:rPr>
              <a:t>Join</a:t>
            </a:r>
            <a:r>
              <a:rPr sz="1500" b="1" spc="-2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Surfaces</a:t>
            </a:r>
            <a:endParaRPr sz="1500">
              <a:latin typeface="Times New Roman"/>
              <a:cs typeface="Times New Roman"/>
            </a:endParaRPr>
          </a:p>
          <a:p>
            <a:pPr marL="299085" marR="5080" indent="-287020">
              <a:lnSpc>
                <a:spcPts val="1620"/>
              </a:lnSpc>
              <a:spcBef>
                <a:spcPts val="114"/>
              </a:spcBef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Merge</a:t>
            </a:r>
            <a:r>
              <a:rPr sz="1500" spc="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Class</a:t>
            </a:r>
            <a:r>
              <a:rPr sz="1500" spc="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</a:t>
            </a:r>
            <a:r>
              <a:rPr sz="1500" spc="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with</a:t>
            </a:r>
            <a:r>
              <a:rPr sz="1500" spc="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Class</a:t>
            </a:r>
            <a:r>
              <a:rPr sz="1500" spc="7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Class</a:t>
            </a:r>
            <a:r>
              <a:rPr sz="1500" spc="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</a:t>
            </a:r>
            <a:r>
              <a:rPr sz="1500" spc="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using</a:t>
            </a:r>
            <a:r>
              <a:rPr sz="1500" spc="70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the </a:t>
            </a:r>
            <a:r>
              <a:rPr sz="1500" dirty="0">
                <a:latin typeface="Times New Roman"/>
                <a:cs typeface="Times New Roman"/>
              </a:rPr>
              <a:t>Join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command.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595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Ensure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joined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body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forms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closed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without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openings.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61303" y="882396"/>
            <a:ext cx="6083934" cy="395477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Final</a:t>
            </a:r>
            <a:r>
              <a:rPr spc="-85" dirty="0"/>
              <a:t> </a:t>
            </a:r>
            <a:r>
              <a:rPr spc="-20" dirty="0"/>
              <a:t>Trim </a:t>
            </a:r>
            <a:r>
              <a:rPr dirty="0"/>
              <a:t>and</a:t>
            </a:r>
            <a:r>
              <a:rPr spc="-40" dirty="0"/>
              <a:t> </a:t>
            </a:r>
            <a:r>
              <a:rPr dirty="0"/>
              <a:t>Solid</a:t>
            </a:r>
            <a:r>
              <a:rPr spc="-45" dirty="0"/>
              <a:t> </a:t>
            </a:r>
            <a:r>
              <a:rPr dirty="0"/>
              <a:t>Part</a:t>
            </a:r>
            <a:r>
              <a:rPr spc="-40" dirty="0"/>
              <a:t> </a:t>
            </a:r>
            <a:r>
              <a:rPr spc="-10" dirty="0"/>
              <a:t>Conversion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915" y="626109"/>
            <a:ext cx="8305800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710"/>
              </a:lnSpc>
              <a:spcBef>
                <a:spcPts val="100"/>
              </a:spcBef>
            </a:pPr>
            <a:r>
              <a:rPr sz="1500" b="1" dirty="0">
                <a:latin typeface="Times New Roman"/>
                <a:cs typeface="Times New Roman"/>
              </a:rPr>
              <a:t>Final</a:t>
            </a:r>
            <a:r>
              <a:rPr sz="1500" b="1" spc="-50" dirty="0">
                <a:latin typeface="Times New Roman"/>
                <a:cs typeface="Times New Roman"/>
              </a:rPr>
              <a:t> </a:t>
            </a:r>
            <a:r>
              <a:rPr sz="1500" b="1" spc="-20" dirty="0">
                <a:latin typeface="Times New Roman"/>
                <a:cs typeface="Times New Roman"/>
              </a:rPr>
              <a:t>Trim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Perform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Trim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operation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cut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align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Class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A,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B,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together.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This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step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creates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single,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continuous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closed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model.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10"/>
              </a:lnSpc>
              <a:spcBef>
                <a:spcPts val="1440"/>
              </a:spcBef>
            </a:pPr>
            <a:r>
              <a:rPr sz="1500" b="1" dirty="0">
                <a:latin typeface="Times New Roman"/>
                <a:cs typeface="Times New Roman"/>
              </a:rPr>
              <a:t>Solid</a:t>
            </a:r>
            <a:r>
              <a:rPr sz="1500" b="1" spc="-3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Conversion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Once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closed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validated,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convert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it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into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solid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body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using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Close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</a:t>
            </a:r>
            <a:r>
              <a:rPr sz="1500" spc="-10" dirty="0">
                <a:latin typeface="Times New Roman"/>
                <a:cs typeface="Times New Roman"/>
              </a:rPr>
              <a:t> command.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This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completes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switch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cover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component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solid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part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ready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analysis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further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validation.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5175" y="2260219"/>
            <a:ext cx="5791200" cy="44063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Draft</a:t>
            </a:r>
            <a:r>
              <a:rPr spc="-35" dirty="0"/>
              <a:t> </a:t>
            </a:r>
            <a:r>
              <a:rPr dirty="0"/>
              <a:t>analysis</a:t>
            </a:r>
            <a:r>
              <a:rPr spc="-45" dirty="0"/>
              <a:t> </a:t>
            </a:r>
            <a:r>
              <a:rPr dirty="0"/>
              <a:t>on</a:t>
            </a:r>
            <a:r>
              <a:rPr spc="-5" dirty="0"/>
              <a:t> </a:t>
            </a:r>
            <a:r>
              <a:rPr dirty="0"/>
              <a:t>solid</a:t>
            </a:r>
            <a:r>
              <a:rPr spc="-25" dirty="0"/>
              <a:t> </a:t>
            </a:r>
            <a:r>
              <a:rPr dirty="0"/>
              <a:t>part</a:t>
            </a:r>
            <a:r>
              <a:rPr spc="-25" dirty="0"/>
              <a:t> </a:t>
            </a:r>
            <a:r>
              <a:rPr dirty="0"/>
              <a:t>for</a:t>
            </a:r>
            <a:r>
              <a:rPr spc="-60" dirty="0"/>
              <a:t> </a:t>
            </a:r>
            <a:r>
              <a:rPr dirty="0"/>
              <a:t>parting</a:t>
            </a:r>
            <a:r>
              <a:rPr spc="-40" dirty="0"/>
              <a:t> </a:t>
            </a:r>
            <a:r>
              <a:rPr dirty="0"/>
              <a:t>line</a:t>
            </a:r>
            <a:r>
              <a:rPr spc="-15" dirty="0"/>
              <a:t> </a:t>
            </a:r>
            <a:r>
              <a:rPr spc="-10" dirty="0"/>
              <a:t>creation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915" y="626109"/>
            <a:ext cx="11503660" cy="66548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 algn="just">
              <a:lnSpc>
                <a:spcPts val="1620"/>
              </a:lnSpc>
              <a:spcBef>
                <a:spcPts val="305"/>
              </a:spcBef>
            </a:pP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1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Analysis</a:t>
            </a:r>
            <a:r>
              <a:rPr sz="1500" spc="1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was</a:t>
            </a:r>
            <a:r>
              <a:rPr sz="1500" spc="1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performed</a:t>
            </a:r>
            <a:r>
              <a:rPr sz="1500" spc="1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on</a:t>
            </a:r>
            <a:r>
              <a:rPr sz="1500" spc="1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114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solid</a:t>
            </a:r>
            <a:r>
              <a:rPr sz="1500" spc="1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switch</a:t>
            </a:r>
            <a:r>
              <a:rPr sz="1500" spc="1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cover</a:t>
            </a:r>
            <a:r>
              <a:rPr sz="1500" spc="114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model</a:t>
            </a:r>
            <a:r>
              <a:rPr sz="1500" spc="1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using</a:t>
            </a:r>
            <a:r>
              <a:rPr sz="1500" spc="1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114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defined</a:t>
            </a:r>
            <a:r>
              <a:rPr sz="1500" spc="1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tooling</a:t>
            </a:r>
            <a:r>
              <a:rPr sz="1500" spc="1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axis.</a:t>
            </a:r>
            <a:r>
              <a:rPr sz="1500" spc="10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1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analysis</a:t>
            </a:r>
            <a:r>
              <a:rPr sz="1500" spc="1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confirmed</a:t>
            </a:r>
            <a:r>
              <a:rPr sz="1500" spc="1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that</a:t>
            </a:r>
            <a:r>
              <a:rPr sz="1500" spc="1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most</a:t>
            </a:r>
            <a:r>
              <a:rPr sz="1500" spc="1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1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meet</a:t>
            </a:r>
            <a:r>
              <a:rPr sz="1500" spc="120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the </a:t>
            </a:r>
            <a:r>
              <a:rPr sz="1500" dirty="0">
                <a:latin typeface="Times New Roman"/>
                <a:cs typeface="Times New Roman"/>
              </a:rPr>
              <a:t>required</a:t>
            </a:r>
            <a:r>
              <a:rPr sz="1500" spc="2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3°</a:t>
            </a:r>
            <a:r>
              <a:rPr sz="1500" spc="20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2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angle,</a:t>
            </a:r>
            <a:r>
              <a:rPr sz="1500" spc="20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ensuring</a:t>
            </a:r>
            <a:r>
              <a:rPr sz="1500" spc="2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manufacturability</a:t>
            </a:r>
            <a:r>
              <a:rPr sz="1500" spc="2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also</a:t>
            </a:r>
            <a:r>
              <a:rPr sz="1500" spc="2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extracted</a:t>
            </a:r>
            <a:r>
              <a:rPr sz="1500" spc="2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parting</a:t>
            </a:r>
            <a:r>
              <a:rPr sz="1500" spc="2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line.</a:t>
            </a:r>
            <a:r>
              <a:rPr sz="1500" spc="20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Color</a:t>
            </a:r>
            <a:r>
              <a:rPr sz="1500" spc="2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coding</a:t>
            </a:r>
            <a:r>
              <a:rPr sz="1500" spc="2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highlighted</a:t>
            </a:r>
            <a:r>
              <a:rPr sz="1500" spc="2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acceptable</a:t>
            </a:r>
            <a:r>
              <a:rPr sz="1500" spc="20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regions</a:t>
            </a:r>
            <a:r>
              <a:rPr sz="1500" spc="2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2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green,</a:t>
            </a:r>
            <a:r>
              <a:rPr sz="1500" spc="19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with</a:t>
            </a:r>
            <a:r>
              <a:rPr sz="1500" spc="229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minor </a:t>
            </a:r>
            <a:r>
              <a:rPr sz="1500" dirty="0">
                <a:latin typeface="Times New Roman"/>
                <a:cs typeface="Times New Roman"/>
              </a:rPr>
              <a:t>adjustments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needed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red/blue</a:t>
            </a:r>
            <a:r>
              <a:rPr sz="1500" spc="-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areas.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Overall,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design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validated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production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feasibility.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5175" y="1532000"/>
            <a:ext cx="5605272" cy="372986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4180" y="1532000"/>
            <a:ext cx="5700140" cy="372986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Auto</a:t>
            </a:r>
            <a:r>
              <a:rPr spc="-30" dirty="0"/>
              <a:t> </a:t>
            </a:r>
            <a:r>
              <a:rPr dirty="0"/>
              <a:t>Switch</a:t>
            </a:r>
            <a:r>
              <a:rPr spc="-25" dirty="0"/>
              <a:t> </a:t>
            </a:r>
            <a:r>
              <a:rPr spc="-20" dirty="0"/>
              <a:t>Cover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915" y="626109"/>
            <a:ext cx="11504930" cy="45974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>
              <a:lnSpc>
                <a:spcPts val="1620"/>
              </a:lnSpc>
              <a:spcBef>
                <a:spcPts val="305"/>
              </a:spcBef>
            </a:pPr>
            <a:r>
              <a:rPr sz="1500" dirty="0">
                <a:latin typeface="Times New Roman"/>
                <a:cs typeface="Times New Roman"/>
              </a:rPr>
              <a:t>Hence,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auto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switch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plastic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component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was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successfully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designed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developed,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incorporating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Class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A,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B,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surfaces,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tooling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axis,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angle </a:t>
            </a:r>
            <a:r>
              <a:rPr sz="1500" dirty="0">
                <a:latin typeface="Times New Roman"/>
                <a:cs typeface="Times New Roman"/>
              </a:rPr>
              <a:t>requirements,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validated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through</a:t>
            </a:r>
            <a:r>
              <a:rPr sz="1500" spc="-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analysis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ensure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manufacturability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finally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finalized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parting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line.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0" y="1178052"/>
            <a:ext cx="8382000" cy="53685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753</Words>
  <Application>Microsoft Office PowerPoint</Application>
  <PresentationFormat>Widescreen</PresentationFormat>
  <Paragraphs>69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 MT</vt:lpstr>
      <vt:lpstr>Calibri</vt:lpstr>
      <vt:lpstr>Times New Roman</vt:lpstr>
      <vt:lpstr>Office Theme</vt:lpstr>
      <vt:lpstr>Auto Switch Design</vt:lpstr>
      <vt:lpstr>Objective</vt:lpstr>
      <vt:lpstr>Tooling Axis Creation and Class A Surface Draft Analysis</vt:lpstr>
      <vt:lpstr>Curvature Analysis</vt:lpstr>
      <vt:lpstr>Class B Surface Development</vt:lpstr>
      <vt:lpstr>Class C Surface Development</vt:lpstr>
      <vt:lpstr>Final Trim and Solid Part Conversion</vt:lpstr>
      <vt:lpstr>Draft analysis on solid part for parting line creation</vt:lpstr>
      <vt:lpstr>Auto Switch Cover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 Switch Design</dc:title>
  <dc:creator>Ratikesh Satle</dc:creator>
  <cp:lastModifiedBy>DELL</cp:lastModifiedBy>
  <cp:revision>1</cp:revision>
  <dcterms:created xsi:type="dcterms:W3CDTF">2026-07-24T18:57:54Z</dcterms:created>
  <dcterms:modified xsi:type="dcterms:W3CDTF">2026-07-24T19:18:36Z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v10.0.20070.1</vt:lpwstr>
  </property>
  <property fmtid="{D5CDD505-2E9C-101B-9397-08002B2CF9AE}" pid="3" name="Created">
    <vt:filetime>2026-05-09T00:00:00Z</vt:filetime>
  </property>
  <property fmtid="{D5CDD505-2E9C-101B-9397-08002B2CF9AE}" pid="4" name="Creator">
    <vt:lpwstr>Microsoft® PowerPoint® 2021</vt:lpwstr>
  </property>
  <property fmtid="{D5CDD505-2E9C-101B-9397-08002B2CF9AE}" pid="5" name="LastSaved">
    <vt:filetime>2026-07-24T00:00:00Z</vt:filetime>
  </property>
  <property fmtid="{D5CDD505-2E9C-101B-9397-08002B2CF9AE}" pid="6" name="Producer">
    <vt:lpwstr>Microsoft® PowerPoint® 2021</vt:lpwstr>
  </property>
</Properties>
</file>