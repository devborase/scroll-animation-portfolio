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1" y="2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7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915" y="248869"/>
            <a:ext cx="6234430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45719"/>
            <a:ext cx="29190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Automotive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Plastic Part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05476" y="812114"/>
            <a:ext cx="176276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0" dirty="0">
                <a:latin typeface="Times New Roman"/>
                <a:cs typeface="Times New Roman"/>
              </a:rPr>
              <a:t>Airbag</a:t>
            </a:r>
            <a:r>
              <a:rPr sz="2500" b="0" spc="-70" dirty="0">
                <a:latin typeface="Times New Roman"/>
                <a:cs typeface="Times New Roman"/>
              </a:rPr>
              <a:t> </a:t>
            </a:r>
            <a:r>
              <a:rPr sz="2500" b="0" spc="-20" dirty="0">
                <a:latin typeface="Times New Roman"/>
                <a:cs typeface="Times New Roman"/>
              </a:rPr>
              <a:t>Cover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4639" y="1382775"/>
            <a:ext cx="6522719" cy="40924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3237" y="5927284"/>
            <a:ext cx="294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BY_DEVANSHU_BORASE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887710" cy="19697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objective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project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airbag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provided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Class-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surface.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process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involves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establishing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appropriate</a:t>
            </a:r>
            <a:r>
              <a:rPr sz="1500" spc="10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9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10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10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compliance</a:t>
            </a:r>
            <a:r>
              <a:rPr sz="1500" spc="10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11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11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10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requirements,</a:t>
            </a:r>
            <a:r>
              <a:rPr sz="1500" spc="9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1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10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conducting</a:t>
            </a:r>
            <a:r>
              <a:rPr sz="1500" spc="10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0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10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11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10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validate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integrity.</a:t>
            </a: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15"/>
              </a:spcBef>
            </a:pPr>
            <a:r>
              <a:rPr sz="2000" b="1" spc="-10" dirty="0">
                <a:latin typeface="Times New Roman"/>
                <a:cs typeface="Times New Roman"/>
              </a:rPr>
              <a:t>Class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Surface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spcBef>
                <a:spcPts val="56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Import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imported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0.01mm.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errors.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given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errors.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3492" y="2741955"/>
            <a:ext cx="6605016" cy="3838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Tooling</a:t>
            </a:r>
            <a:r>
              <a:rPr spc="-135" dirty="0"/>
              <a:t> </a:t>
            </a:r>
            <a:r>
              <a:rPr dirty="0"/>
              <a:t>Axis</a:t>
            </a:r>
            <a:r>
              <a:rPr spc="-25" dirty="0"/>
              <a:t> </a:t>
            </a:r>
            <a:r>
              <a:rPr dirty="0"/>
              <a:t>Creation</a:t>
            </a:r>
            <a:r>
              <a:rPr spc="-2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Class</a:t>
            </a:r>
            <a:r>
              <a:rPr spc="-135" dirty="0"/>
              <a:t> </a:t>
            </a:r>
            <a:r>
              <a:rPr spc="-20" dirty="0"/>
              <a:t>A</a:t>
            </a:r>
            <a:r>
              <a:rPr spc="-110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dirty="0"/>
              <a:t>Draft</a:t>
            </a:r>
            <a:r>
              <a:rPr spc="-14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290175" cy="3752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Axis</a:t>
            </a:r>
            <a:r>
              <a:rPr sz="1500" b="1" spc="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for</a:t>
            </a:r>
            <a:r>
              <a:rPr sz="1500" spc="-10" dirty="0">
                <a:latin typeface="Times New Roman"/>
                <a:cs typeface="Times New Roman"/>
              </a:rPr>
              <a:t> manufacturability.</a:t>
            </a:r>
            <a:r>
              <a:rPr sz="1500" spc="-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Analyze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geometry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feasible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mold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opening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direction.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first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direction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assembly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direction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(i.e.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Z-</a:t>
            </a:r>
            <a:r>
              <a:rPr sz="1500" dirty="0">
                <a:latin typeface="Times New Roman"/>
                <a:cs typeface="Times New Roman"/>
              </a:rPr>
              <a:t>Axis)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modify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if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Apply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Angles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 industry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standards.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(commonly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depend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pattern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change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maintain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styling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intent,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consistency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across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faces.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Perform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Analysis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analysis.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Run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Highlight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positive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 negative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regions.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Confirm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spc="-10" dirty="0">
                <a:latin typeface="Times New Roman"/>
                <a:cs typeface="Times New Roman"/>
              </a:rPr>
              <a:t>Results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given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direction.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6608" y="2319782"/>
            <a:ext cx="6300216" cy="42828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97835" y="1177886"/>
            <a:ext cx="6577965" cy="4904740"/>
            <a:chOff x="2497835" y="1177886"/>
            <a:chExt cx="6577965" cy="4904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7835" y="1177886"/>
              <a:ext cx="6577583" cy="49046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903720" y="5204713"/>
              <a:ext cx="649605" cy="547370"/>
            </a:xfrm>
            <a:custGeom>
              <a:avLst/>
              <a:gdLst/>
              <a:ahLst/>
              <a:cxnLst/>
              <a:rect l="l" t="t" r="r" b="b"/>
              <a:pathLst>
                <a:path w="649604" h="547370">
                  <a:moveTo>
                    <a:pt x="0" y="273431"/>
                  </a:moveTo>
                  <a:lnTo>
                    <a:pt x="4247" y="229081"/>
                  </a:lnTo>
                  <a:lnTo>
                    <a:pt x="16544" y="187009"/>
                  </a:lnTo>
                  <a:lnTo>
                    <a:pt x="36223" y="147777"/>
                  </a:lnTo>
                  <a:lnTo>
                    <a:pt x="62618" y="111949"/>
                  </a:lnTo>
                  <a:lnTo>
                    <a:pt x="95059" y="80089"/>
                  </a:lnTo>
                  <a:lnTo>
                    <a:pt x="132880" y="52758"/>
                  </a:lnTo>
                  <a:lnTo>
                    <a:pt x="175413" y="30521"/>
                  </a:lnTo>
                  <a:lnTo>
                    <a:pt x="221991" y="13940"/>
                  </a:lnTo>
                  <a:lnTo>
                    <a:pt x="271947" y="3578"/>
                  </a:lnTo>
                  <a:lnTo>
                    <a:pt x="324611" y="0"/>
                  </a:lnTo>
                  <a:lnTo>
                    <a:pt x="377276" y="3578"/>
                  </a:lnTo>
                  <a:lnTo>
                    <a:pt x="427232" y="13940"/>
                  </a:lnTo>
                  <a:lnTo>
                    <a:pt x="473810" y="30521"/>
                  </a:lnTo>
                  <a:lnTo>
                    <a:pt x="516343" y="52758"/>
                  </a:lnTo>
                  <a:lnTo>
                    <a:pt x="554164" y="80089"/>
                  </a:lnTo>
                  <a:lnTo>
                    <a:pt x="586605" y="111949"/>
                  </a:lnTo>
                  <a:lnTo>
                    <a:pt x="613000" y="147777"/>
                  </a:lnTo>
                  <a:lnTo>
                    <a:pt x="632679" y="187009"/>
                  </a:lnTo>
                  <a:lnTo>
                    <a:pt x="644976" y="229081"/>
                  </a:lnTo>
                  <a:lnTo>
                    <a:pt x="649224" y="273431"/>
                  </a:lnTo>
                  <a:lnTo>
                    <a:pt x="644976" y="317780"/>
                  </a:lnTo>
                  <a:lnTo>
                    <a:pt x="632679" y="359852"/>
                  </a:lnTo>
                  <a:lnTo>
                    <a:pt x="613000" y="399084"/>
                  </a:lnTo>
                  <a:lnTo>
                    <a:pt x="586605" y="434912"/>
                  </a:lnTo>
                  <a:lnTo>
                    <a:pt x="554164" y="466772"/>
                  </a:lnTo>
                  <a:lnTo>
                    <a:pt x="516343" y="494103"/>
                  </a:lnTo>
                  <a:lnTo>
                    <a:pt x="473810" y="516340"/>
                  </a:lnTo>
                  <a:lnTo>
                    <a:pt x="427232" y="532921"/>
                  </a:lnTo>
                  <a:lnTo>
                    <a:pt x="377276" y="543283"/>
                  </a:lnTo>
                  <a:lnTo>
                    <a:pt x="324611" y="546862"/>
                  </a:lnTo>
                  <a:lnTo>
                    <a:pt x="271947" y="543283"/>
                  </a:lnTo>
                  <a:lnTo>
                    <a:pt x="221991" y="532921"/>
                  </a:lnTo>
                  <a:lnTo>
                    <a:pt x="175413" y="516340"/>
                  </a:lnTo>
                  <a:lnTo>
                    <a:pt x="132880" y="494103"/>
                  </a:lnTo>
                  <a:lnTo>
                    <a:pt x="95059" y="466772"/>
                  </a:lnTo>
                  <a:lnTo>
                    <a:pt x="62618" y="434912"/>
                  </a:lnTo>
                  <a:lnTo>
                    <a:pt x="36223" y="399084"/>
                  </a:lnTo>
                  <a:lnTo>
                    <a:pt x="16544" y="359852"/>
                  </a:lnTo>
                  <a:lnTo>
                    <a:pt x="4247" y="317780"/>
                  </a:lnTo>
                  <a:lnTo>
                    <a:pt x="0" y="27343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Curvature</a:t>
            </a:r>
            <a:r>
              <a:rPr spc="-9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3915" y="626109"/>
            <a:ext cx="1125791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71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criteria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according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R21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(i.e.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2.5mm).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doesn't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R21.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B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642302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Offset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Class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2.5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mm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entire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base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thickness.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Note: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Complex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may fail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correctly,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especially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filleted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areas.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9230" y="1517903"/>
            <a:ext cx="7114921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35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5241290" cy="5398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Boundary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Class</a:t>
            </a:r>
            <a:r>
              <a:rPr sz="1500" b="1" spc="-8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Extract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299085" marR="6985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serve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reference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creating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C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15"/>
              </a:spcBef>
            </a:pPr>
            <a:r>
              <a:rPr sz="1500" b="1" dirty="0">
                <a:latin typeface="Times New Roman"/>
                <a:cs typeface="Times New Roman"/>
              </a:rPr>
              <a:t>Define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Axis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based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2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ensures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manufacturable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710"/>
              </a:lnSpc>
            </a:pP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proper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angles.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Sweep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Operation</a:t>
            </a:r>
            <a:endParaRPr sz="1500">
              <a:latin typeface="Times New Roman"/>
              <a:cs typeface="Times New Roman"/>
            </a:endParaRPr>
          </a:p>
          <a:p>
            <a:pPr marL="299085" marR="6985" indent="-287020">
              <a:lnSpc>
                <a:spcPts val="1620"/>
              </a:lnSpc>
              <a:spcBef>
                <a:spcPts val="11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along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generate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boundaries.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0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(0.5°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specified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710"/>
              </a:lnSpc>
            </a:pP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core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side)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during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sweep.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5"/>
              </a:spcBef>
            </a:pPr>
            <a:r>
              <a:rPr sz="1500" b="1" dirty="0">
                <a:latin typeface="Times New Roman"/>
                <a:cs typeface="Times New Roman"/>
              </a:rPr>
              <a:t>Check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Continuity</a:t>
            </a:r>
            <a:endParaRPr sz="1500">
              <a:latin typeface="Times New Roman"/>
              <a:cs typeface="Times New Roman"/>
            </a:endParaRPr>
          </a:p>
          <a:p>
            <a:pPr marL="299085" marR="6985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Verify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swept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connect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smoothly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with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 Class B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surfaces.</a:t>
            </a:r>
            <a:endParaRPr sz="1500">
              <a:latin typeface="Times New Roman"/>
              <a:cs typeface="Times New Roman"/>
            </a:endParaRPr>
          </a:p>
          <a:p>
            <a:pPr marL="299085" marR="6985" indent="-287020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4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4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parameters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extend</a:t>
            </a:r>
            <a:r>
              <a:rPr sz="1500" spc="6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boundaries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gaps</a:t>
            </a:r>
            <a:r>
              <a:rPr sz="1500" spc="49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are </a:t>
            </a:r>
            <a:r>
              <a:rPr sz="1500" spc="-10" dirty="0">
                <a:latin typeface="Times New Roman"/>
                <a:cs typeface="Times New Roman"/>
              </a:rPr>
              <a:t>detected.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15"/>
              </a:spcBef>
            </a:pPr>
            <a:r>
              <a:rPr sz="1500" b="1" dirty="0">
                <a:latin typeface="Times New Roman"/>
                <a:cs typeface="Times New Roman"/>
              </a:rPr>
              <a:t>Join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Surfaces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1620"/>
              </a:lnSpc>
              <a:spcBef>
                <a:spcPts val="114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Merge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9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forms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without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openings.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1525" y="621791"/>
            <a:ext cx="6157595" cy="32644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42965" y="732027"/>
            <a:ext cx="376936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5"/>
              </a:lnSpc>
            </a:pPr>
            <a:r>
              <a:rPr sz="1800" dirty="0">
                <a:latin typeface="Times New Roman"/>
                <a:cs typeface="Times New Roman"/>
              </a:rPr>
              <a:t>Sweep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reference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surface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90.5°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2965" y="1006347"/>
            <a:ext cx="3618865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5"/>
              </a:lnSpc>
            </a:pPr>
            <a:r>
              <a:rPr sz="1800" dirty="0">
                <a:latin typeface="Times New Roman"/>
                <a:cs typeface="Times New Roman"/>
              </a:rPr>
              <a:t>angle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w.r.t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A-</a:t>
            </a:r>
            <a:r>
              <a:rPr sz="1800" dirty="0">
                <a:latin typeface="Times New Roman"/>
                <a:cs typeface="Times New Roman"/>
              </a:rPr>
              <a:t>Surface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clear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tooling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61119" y="3929458"/>
            <a:ext cx="3048000" cy="282232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942965" y="3996435"/>
            <a:ext cx="426466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9"/>
              </a:lnSpc>
            </a:pPr>
            <a:r>
              <a:rPr sz="1800" dirty="0">
                <a:latin typeface="Times New Roman"/>
                <a:cs typeface="Times New Roman"/>
              </a:rPr>
              <a:t>Sweep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reference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surface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105°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angle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2965" y="4270755"/>
            <a:ext cx="305435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9"/>
              </a:lnSpc>
            </a:pPr>
            <a:r>
              <a:rPr sz="1800" spc="-55" dirty="0">
                <a:latin typeface="Times New Roman"/>
                <a:cs typeface="Times New Roman"/>
              </a:rPr>
              <a:t>w.r.t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A-</a:t>
            </a:r>
            <a:r>
              <a:rPr sz="1800" dirty="0">
                <a:latin typeface="Times New Roman"/>
                <a:cs typeface="Times New Roman"/>
              </a:rPr>
              <a:t>Surface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clear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tooling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Final</a:t>
            </a:r>
            <a:r>
              <a:rPr spc="-85" dirty="0"/>
              <a:t> </a:t>
            </a:r>
            <a:r>
              <a:rPr spc="-20" dirty="0"/>
              <a:t>Trim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Solid</a:t>
            </a:r>
            <a:r>
              <a:rPr spc="-45" dirty="0"/>
              <a:t> </a:t>
            </a:r>
            <a:r>
              <a:rPr dirty="0"/>
              <a:t>Part</a:t>
            </a:r>
            <a:r>
              <a:rPr spc="-40" dirty="0"/>
              <a:t> </a:t>
            </a:r>
            <a:r>
              <a:rPr spc="-10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78740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Final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Trim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Perform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operation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align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together.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step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single,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continuous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model.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Solid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Conversion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Once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convert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airbag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ready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further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validation.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853" y="2248661"/>
            <a:ext cx="5939662" cy="33291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6946" y="2248661"/>
            <a:ext cx="5464556" cy="33291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Draft</a:t>
            </a:r>
            <a:r>
              <a:rPr spc="-35" dirty="0"/>
              <a:t> </a:t>
            </a:r>
            <a:r>
              <a:rPr dirty="0"/>
              <a:t>analysis</a:t>
            </a:r>
            <a:r>
              <a:rPr spc="-4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solid</a:t>
            </a:r>
            <a:r>
              <a:rPr spc="-25" dirty="0"/>
              <a:t> </a:t>
            </a:r>
            <a:r>
              <a:rPr dirty="0"/>
              <a:t>part</a:t>
            </a:r>
            <a:r>
              <a:rPr spc="-2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parting</a:t>
            </a:r>
            <a:r>
              <a:rPr spc="-40" dirty="0"/>
              <a:t> </a:t>
            </a:r>
            <a:r>
              <a:rPr dirty="0"/>
              <a:t>line</a:t>
            </a:r>
            <a:r>
              <a:rPr spc="-15" dirty="0"/>
              <a:t> </a:t>
            </a:r>
            <a:r>
              <a:rPr spc="-10" dirty="0"/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4930" cy="6654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performed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airbag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 confirmed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most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angle,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also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25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line.</a:t>
            </a:r>
            <a:r>
              <a:rPr sz="1500" spc="25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Color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coding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acceptable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25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green,</a:t>
            </a:r>
            <a:r>
              <a:rPr sz="1500" spc="25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minor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adjustments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needed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in </a:t>
            </a:r>
            <a:r>
              <a:rPr sz="1500" dirty="0">
                <a:latin typeface="Times New Roman"/>
                <a:cs typeface="Times New Roman"/>
              </a:rPr>
              <a:t>red/blue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areas.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Overall,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production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feasibility.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1427581"/>
            <a:ext cx="5788914" cy="43323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5502" y="1427568"/>
            <a:ext cx="5830824" cy="433235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6615" y="5457647"/>
            <a:ext cx="61468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9"/>
              </a:lnSpc>
            </a:pPr>
            <a:r>
              <a:rPr sz="1800" spc="-10" dirty="0">
                <a:latin typeface="Times New Roman"/>
                <a:cs typeface="Times New Roman"/>
              </a:rPr>
              <a:t>Cavity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8668" y="5447715"/>
            <a:ext cx="457834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270">
              <a:lnSpc>
                <a:spcPts val="1939"/>
              </a:lnSpc>
            </a:pPr>
            <a:r>
              <a:rPr sz="1800" spc="-20" dirty="0">
                <a:latin typeface="Times New Roman"/>
                <a:cs typeface="Times New Roman"/>
              </a:rPr>
              <a:t>Core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Automotive</a:t>
            </a:r>
            <a:r>
              <a:rPr spc="-125" dirty="0"/>
              <a:t> </a:t>
            </a:r>
            <a:r>
              <a:rPr dirty="0"/>
              <a:t>Airbag</a:t>
            </a:r>
            <a:r>
              <a:rPr spc="20" dirty="0"/>
              <a:t> </a:t>
            </a:r>
            <a:r>
              <a:rPr spc="-10" dirty="0"/>
              <a:t>Cover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5565" cy="4597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Hence,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airbag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successfully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designed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developed,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incorporating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surfaces,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requirements,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finalized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line.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4445" y="1261872"/>
            <a:ext cx="8103108" cy="5084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715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 MT</vt:lpstr>
      <vt:lpstr>Calibri</vt:lpstr>
      <vt:lpstr>Times New Roman</vt:lpstr>
      <vt:lpstr>Office Theme</vt:lpstr>
      <vt:lpstr>Airbag Cover</vt:lpstr>
      <vt:lpstr>Objective</vt:lpstr>
      <vt:lpstr>Tooling Axis Creation and Class A Surface Draft Analysis</vt:lpstr>
      <vt:lpstr>Curvature Analysis</vt:lpstr>
      <vt:lpstr>Class B Surface Development</vt:lpstr>
      <vt:lpstr>Class C Surface Development</vt:lpstr>
      <vt:lpstr>Final Trim and Solid Part Conversion</vt:lpstr>
      <vt:lpstr>Draft analysis on solid part for parting line creation</vt:lpstr>
      <vt:lpstr>Automotive Airbag Cover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Airbag Cover</dc:title>
  <dc:creator>Ratikesh Satle</dc:creator>
  <cp:lastModifiedBy>DELL</cp:lastModifiedBy>
  <cp:revision>2</cp:revision>
  <dcterms:created xsi:type="dcterms:W3CDTF">2026-07-24T18:56:30Z</dcterms:created>
  <dcterms:modified xsi:type="dcterms:W3CDTF">2026-07-24T19:21:19Z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2026-05-18T00:00:00Z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2026-07-24T00:00:00Z</vt:filetime>
  </property>
  <property fmtid="{D5CDD505-2E9C-101B-9397-08002B2CF9AE}" pid="6" name="Producer">
    <vt:lpwstr>Microsoft® PowerPoint® 2021</vt:lpwstr>
  </property>
</Properties>
</file>