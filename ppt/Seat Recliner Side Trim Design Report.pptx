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01" y="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alphaModFix amt="7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915" y="248793"/>
            <a:ext cx="6234430" cy="3315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3915" y="1654809"/>
            <a:ext cx="5241290" cy="4370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9000" y="334131"/>
            <a:ext cx="564083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Times New Roman"/>
                <a:cs typeface="Times New Roman"/>
              </a:rPr>
              <a:t>Automotive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Plastic Part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Design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613237" y="925367"/>
            <a:ext cx="307784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0" dirty="0">
                <a:latin typeface="Times New Roman"/>
                <a:cs typeface="Times New Roman"/>
              </a:rPr>
              <a:t>Seat</a:t>
            </a:r>
            <a:r>
              <a:rPr sz="2500" b="0" spc="-45" dirty="0">
                <a:latin typeface="Times New Roman"/>
                <a:cs typeface="Times New Roman"/>
              </a:rPr>
              <a:t> </a:t>
            </a:r>
            <a:r>
              <a:rPr sz="2500" b="0" dirty="0">
                <a:latin typeface="Times New Roman"/>
                <a:cs typeface="Times New Roman"/>
              </a:rPr>
              <a:t>Recliner</a:t>
            </a:r>
            <a:r>
              <a:rPr sz="2500" b="0" spc="-15" dirty="0">
                <a:latin typeface="Times New Roman"/>
                <a:cs typeface="Times New Roman"/>
              </a:rPr>
              <a:t> </a:t>
            </a:r>
            <a:r>
              <a:rPr sz="2500" b="0" dirty="0">
                <a:latin typeface="Times New Roman"/>
                <a:cs typeface="Times New Roman"/>
              </a:rPr>
              <a:t>Side</a:t>
            </a:r>
            <a:r>
              <a:rPr sz="2500" b="0" spc="-85" dirty="0">
                <a:latin typeface="Times New Roman"/>
                <a:cs typeface="Times New Roman"/>
              </a:rPr>
              <a:t> </a:t>
            </a:r>
            <a:r>
              <a:rPr sz="2500" b="0" spc="-20" dirty="0">
                <a:latin typeface="Times New Roman"/>
                <a:cs typeface="Times New Roman"/>
              </a:rPr>
              <a:t>Trim</a:t>
            </a:r>
            <a:endParaRPr sz="25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161" y="1443863"/>
            <a:ext cx="7821676" cy="40333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13237" y="5927284"/>
            <a:ext cx="2943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BY_DEVANSHU_BORASE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886440" cy="217551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objective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project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automotive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seat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recliner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1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component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provided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Class-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surface.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design </a:t>
            </a:r>
            <a:r>
              <a:rPr sz="1500" dirty="0">
                <a:latin typeface="Times New Roman"/>
                <a:cs typeface="Times New Roman"/>
              </a:rPr>
              <a:t>process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involves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establishing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appropriate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compliance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conducting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draft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integrity.</a:t>
            </a:r>
            <a:endParaRPr sz="150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615"/>
              </a:spcBef>
            </a:pPr>
            <a:r>
              <a:rPr sz="2000" b="1" spc="-10" dirty="0">
                <a:latin typeface="Times New Roman"/>
                <a:cs typeface="Times New Roman"/>
              </a:rPr>
              <a:t>Class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Surface</a:t>
            </a:r>
            <a:r>
              <a:rPr sz="2000" b="1" spc="-1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Analysis</a:t>
            </a:r>
            <a:endParaRPr sz="20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spcBef>
                <a:spcPts val="56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Import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imported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distance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0.01mm.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errors.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tangency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issue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surfaces/overlapping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issue.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areas had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issues.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06979" y="2886201"/>
            <a:ext cx="6559550" cy="3481704"/>
            <a:chOff x="2506979" y="2886201"/>
            <a:chExt cx="6559550" cy="3481704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6979" y="2886201"/>
              <a:ext cx="6559296" cy="348141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59963" y="4569078"/>
              <a:ext cx="4619625" cy="1301750"/>
            </a:xfrm>
            <a:custGeom>
              <a:avLst/>
              <a:gdLst/>
              <a:ahLst/>
              <a:cxnLst/>
              <a:rect l="l" t="t" r="r" b="b"/>
              <a:pathLst>
                <a:path w="4619625" h="1301750">
                  <a:moveTo>
                    <a:pt x="4052316" y="1063625"/>
                  </a:moveTo>
                  <a:lnTo>
                    <a:pt x="4056881" y="1020886"/>
                  </a:lnTo>
                  <a:lnTo>
                    <a:pt x="4070045" y="980662"/>
                  </a:lnTo>
                  <a:lnTo>
                    <a:pt x="4091008" y="943624"/>
                  </a:lnTo>
                  <a:lnTo>
                    <a:pt x="4118970" y="910443"/>
                  </a:lnTo>
                  <a:lnTo>
                    <a:pt x="4153132" y="881790"/>
                  </a:lnTo>
                  <a:lnTo>
                    <a:pt x="4192693" y="858336"/>
                  </a:lnTo>
                  <a:lnTo>
                    <a:pt x="4236854" y="840753"/>
                  </a:lnTo>
                  <a:lnTo>
                    <a:pt x="4284816" y="829710"/>
                  </a:lnTo>
                  <a:lnTo>
                    <a:pt x="4335780" y="825881"/>
                  </a:lnTo>
                  <a:lnTo>
                    <a:pt x="4386743" y="829710"/>
                  </a:lnTo>
                  <a:lnTo>
                    <a:pt x="4434705" y="840753"/>
                  </a:lnTo>
                  <a:lnTo>
                    <a:pt x="4478866" y="858336"/>
                  </a:lnTo>
                  <a:lnTo>
                    <a:pt x="4518427" y="881790"/>
                  </a:lnTo>
                  <a:lnTo>
                    <a:pt x="4552589" y="910443"/>
                  </a:lnTo>
                  <a:lnTo>
                    <a:pt x="4580551" y="943624"/>
                  </a:lnTo>
                  <a:lnTo>
                    <a:pt x="4601514" y="980662"/>
                  </a:lnTo>
                  <a:lnTo>
                    <a:pt x="4614678" y="1020886"/>
                  </a:lnTo>
                  <a:lnTo>
                    <a:pt x="4619244" y="1063625"/>
                  </a:lnTo>
                  <a:lnTo>
                    <a:pt x="4614678" y="1106360"/>
                  </a:lnTo>
                  <a:lnTo>
                    <a:pt x="4601514" y="1146582"/>
                  </a:lnTo>
                  <a:lnTo>
                    <a:pt x="4580551" y="1183620"/>
                  </a:lnTo>
                  <a:lnTo>
                    <a:pt x="4552589" y="1216801"/>
                  </a:lnTo>
                  <a:lnTo>
                    <a:pt x="4518427" y="1245455"/>
                  </a:lnTo>
                  <a:lnTo>
                    <a:pt x="4478866" y="1268910"/>
                  </a:lnTo>
                  <a:lnTo>
                    <a:pt x="4434705" y="1286495"/>
                  </a:lnTo>
                  <a:lnTo>
                    <a:pt x="4386743" y="1297538"/>
                  </a:lnTo>
                  <a:lnTo>
                    <a:pt x="4335780" y="1301369"/>
                  </a:lnTo>
                  <a:lnTo>
                    <a:pt x="4284816" y="1297538"/>
                  </a:lnTo>
                  <a:lnTo>
                    <a:pt x="4236854" y="1286495"/>
                  </a:lnTo>
                  <a:lnTo>
                    <a:pt x="4192693" y="1268910"/>
                  </a:lnTo>
                  <a:lnTo>
                    <a:pt x="4153132" y="1245455"/>
                  </a:lnTo>
                  <a:lnTo>
                    <a:pt x="4118970" y="1216801"/>
                  </a:lnTo>
                  <a:lnTo>
                    <a:pt x="4091008" y="1183620"/>
                  </a:lnTo>
                  <a:lnTo>
                    <a:pt x="4070045" y="1146582"/>
                  </a:lnTo>
                  <a:lnTo>
                    <a:pt x="4056881" y="1106360"/>
                  </a:lnTo>
                  <a:lnTo>
                    <a:pt x="4052316" y="1063625"/>
                  </a:lnTo>
                  <a:close/>
                </a:path>
                <a:path w="4619625" h="1301750">
                  <a:moveTo>
                    <a:pt x="2525268" y="237744"/>
                  </a:moveTo>
                  <a:lnTo>
                    <a:pt x="2529833" y="195005"/>
                  </a:lnTo>
                  <a:lnTo>
                    <a:pt x="2542997" y="154781"/>
                  </a:lnTo>
                  <a:lnTo>
                    <a:pt x="2563960" y="117743"/>
                  </a:lnTo>
                  <a:lnTo>
                    <a:pt x="2591922" y="84562"/>
                  </a:lnTo>
                  <a:lnTo>
                    <a:pt x="2626084" y="55909"/>
                  </a:lnTo>
                  <a:lnTo>
                    <a:pt x="2665645" y="32455"/>
                  </a:lnTo>
                  <a:lnTo>
                    <a:pt x="2709806" y="14872"/>
                  </a:lnTo>
                  <a:lnTo>
                    <a:pt x="2757768" y="3829"/>
                  </a:lnTo>
                  <a:lnTo>
                    <a:pt x="2808732" y="0"/>
                  </a:lnTo>
                  <a:lnTo>
                    <a:pt x="2859695" y="3829"/>
                  </a:lnTo>
                  <a:lnTo>
                    <a:pt x="2907657" y="14872"/>
                  </a:lnTo>
                  <a:lnTo>
                    <a:pt x="2951818" y="32455"/>
                  </a:lnTo>
                  <a:lnTo>
                    <a:pt x="2991379" y="55909"/>
                  </a:lnTo>
                  <a:lnTo>
                    <a:pt x="3025541" y="84562"/>
                  </a:lnTo>
                  <a:lnTo>
                    <a:pt x="3053503" y="117743"/>
                  </a:lnTo>
                  <a:lnTo>
                    <a:pt x="3074466" y="154781"/>
                  </a:lnTo>
                  <a:lnTo>
                    <a:pt x="3087630" y="195005"/>
                  </a:lnTo>
                  <a:lnTo>
                    <a:pt x="3092196" y="237744"/>
                  </a:lnTo>
                  <a:lnTo>
                    <a:pt x="3087630" y="280482"/>
                  </a:lnTo>
                  <a:lnTo>
                    <a:pt x="3074466" y="320706"/>
                  </a:lnTo>
                  <a:lnTo>
                    <a:pt x="3053503" y="357744"/>
                  </a:lnTo>
                  <a:lnTo>
                    <a:pt x="3025541" y="390925"/>
                  </a:lnTo>
                  <a:lnTo>
                    <a:pt x="2991379" y="419578"/>
                  </a:lnTo>
                  <a:lnTo>
                    <a:pt x="2951818" y="443032"/>
                  </a:lnTo>
                  <a:lnTo>
                    <a:pt x="2907657" y="460615"/>
                  </a:lnTo>
                  <a:lnTo>
                    <a:pt x="2859695" y="471658"/>
                  </a:lnTo>
                  <a:lnTo>
                    <a:pt x="2808732" y="475488"/>
                  </a:lnTo>
                  <a:lnTo>
                    <a:pt x="2757768" y="471658"/>
                  </a:lnTo>
                  <a:lnTo>
                    <a:pt x="2709806" y="460615"/>
                  </a:lnTo>
                  <a:lnTo>
                    <a:pt x="2665645" y="443032"/>
                  </a:lnTo>
                  <a:lnTo>
                    <a:pt x="2626084" y="419578"/>
                  </a:lnTo>
                  <a:lnTo>
                    <a:pt x="2591922" y="390925"/>
                  </a:lnTo>
                  <a:lnTo>
                    <a:pt x="2563960" y="357744"/>
                  </a:lnTo>
                  <a:lnTo>
                    <a:pt x="2542997" y="320706"/>
                  </a:lnTo>
                  <a:lnTo>
                    <a:pt x="2529833" y="280482"/>
                  </a:lnTo>
                  <a:lnTo>
                    <a:pt x="2525268" y="237744"/>
                  </a:lnTo>
                  <a:close/>
                </a:path>
                <a:path w="4619625" h="1301750">
                  <a:moveTo>
                    <a:pt x="0" y="295529"/>
                  </a:moveTo>
                  <a:lnTo>
                    <a:pt x="4565" y="252790"/>
                  </a:lnTo>
                  <a:lnTo>
                    <a:pt x="17729" y="212566"/>
                  </a:lnTo>
                  <a:lnTo>
                    <a:pt x="38692" y="175528"/>
                  </a:lnTo>
                  <a:lnTo>
                    <a:pt x="66654" y="142347"/>
                  </a:lnTo>
                  <a:lnTo>
                    <a:pt x="100816" y="113694"/>
                  </a:lnTo>
                  <a:lnTo>
                    <a:pt x="140377" y="90240"/>
                  </a:lnTo>
                  <a:lnTo>
                    <a:pt x="184538" y="72657"/>
                  </a:lnTo>
                  <a:lnTo>
                    <a:pt x="232500" y="61614"/>
                  </a:lnTo>
                  <a:lnTo>
                    <a:pt x="283463" y="57785"/>
                  </a:lnTo>
                  <a:lnTo>
                    <a:pt x="334427" y="61614"/>
                  </a:lnTo>
                  <a:lnTo>
                    <a:pt x="382389" y="72657"/>
                  </a:lnTo>
                  <a:lnTo>
                    <a:pt x="426550" y="90240"/>
                  </a:lnTo>
                  <a:lnTo>
                    <a:pt x="466111" y="113694"/>
                  </a:lnTo>
                  <a:lnTo>
                    <a:pt x="500273" y="142347"/>
                  </a:lnTo>
                  <a:lnTo>
                    <a:pt x="528235" y="175528"/>
                  </a:lnTo>
                  <a:lnTo>
                    <a:pt x="549198" y="212566"/>
                  </a:lnTo>
                  <a:lnTo>
                    <a:pt x="562362" y="252790"/>
                  </a:lnTo>
                  <a:lnTo>
                    <a:pt x="566927" y="295529"/>
                  </a:lnTo>
                  <a:lnTo>
                    <a:pt x="562362" y="338267"/>
                  </a:lnTo>
                  <a:lnTo>
                    <a:pt x="549198" y="378491"/>
                  </a:lnTo>
                  <a:lnTo>
                    <a:pt x="528235" y="415529"/>
                  </a:lnTo>
                  <a:lnTo>
                    <a:pt x="500273" y="448710"/>
                  </a:lnTo>
                  <a:lnTo>
                    <a:pt x="466111" y="477363"/>
                  </a:lnTo>
                  <a:lnTo>
                    <a:pt x="426550" y="500817"/>
                  </a:lnTo>
                  <a:lnTo>
                    <a:pt x="382389" y="518400"/>
                  </a:lnTo>
                  <a:lnTo>
                    <a:pt x="334427" y="529443"/>
                  </a:lnTo>
                  <a:lnTo>
                    <a:pt x="283463" y="533273"/>
                  </a:lnTo>
                  <a:lnTo>
                    <a:pt x="232500" y="529443"/>
                  </a:lnTo>
                  <a:lnTo>
                    <a:pt x="184538" y="518400"/>
                  </a:lnTo>
                  <a:lnTo>
                    <a:pt x="140377" y="500817"/>
                  </a:lnTo>
                  <a:lnTo>
                    <a:pt x="100816" y="477363"/>
                  </a:lnTo>
                  <a:lnTo>
                    <a:pt x="66654" y="448710"/>
                  </a:lnTo>
                  <a:lnTo>
                    <a:pt x="38692" y="415529"/>
                  </a:lnTo>
                  <a:lnTo>
                    <a:pt x="17729" y="378491"/>
                  </a:lnTo>
                  <a:lnTo>
                    <a:pt x="4565" y="338267"/>
                  </a:lnTo>
                  <a:lnTo>
                    <a:pt x="0" y="295529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Class</a:t>
            </a:r>
            <a:r>
              <a:rPr spc="-125" dirty="0"/>
              <a:t> </a:t>
            </a:r>
            <a:r>
              <a:rPr dirty="0"/>
              <a:t>A</a:t>
            </a:r>
            <a:r>
              <a:rPr spc="-105" dirty="0"/>
              <a:t> </a:t>
            </a:r>
            <a:r>
              <a:rPr dirty="0"/>
              <a:t>Surface</a:t>
            </a:r>
            <a:r>
              <a:rPr spc="-125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708404"/>
            <a:ext cx="3637788" cy="226987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31615" y="1708404"/>
            <a:ext cx="4128769" cy="226987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89035" y="1708404"/>
            <a:ext cx="3655314" cy="226987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43915" y="626109"/>
            <a:ext cx="10886440" cy="871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image 1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untrimmed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split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solve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issue.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 image 2 the surface with tangency issue is separated using join command and the area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causing the issue is been removed using and </a:t>
            </a:r>
            <a:r>
              <a:rPr sz="1500" spc="-20" dirty="0">
                <a:latin typeface="Times New Roman"/>
                <a:cs typeface="Times New Roman"/>
              </a:rPr>
              <a:t>iso-</a:t>
            </a:r>
            <a:r>
              <a:rPr sz="1500" dirty="0">
                <a:latin typeface="Times New Roman"/>
                <a:cs typeface="Times New Roman"/>
              </a:rPr>
              <a:t>parametric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curve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split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multi-section.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595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Same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strategy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used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image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three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resolve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overlap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issue.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Tooling</a:t>
            </a:r>
            <a:r>
              <a:rPr spc="-135" dirty="0"/>
              <a:t> </a:t>
            </a:r>
            <a:r>
              <a:rPr dirty="0"/>
              <a:t>Axis</a:t>
            </a:r>
            <a:r>
              <a:rPr spc="-25" dirty="0"/>
              <a:t> </a:t>
            </a:r>
            <a:r>
              <a:rPr dirty="0"/>
              <a:t>Creation</a:t>
            </a:r>
            <a:r>
              <a:rPr spc="-2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Class</a:t>
            </a:r>
            <a:r>
              <a:rPr spc="-135" dirty="0"/>
              <a:t> </a:t>
            </a:r>
            <a:r>
              <a:rPr spc="-20" dirty="0"/>
              <a:t>A</a:t>
            </a:r>
            <a:r>
              <a:rPr spc="-110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dirty="0"/>
              <a:t>Draft</a:t>
            </a:r>
            <a:r>
              <a:rPr spc="-14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0283825" cy="37522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spc="-30" dirty="0">
                <a:latin typeface="Times New Roman"/>
                <a:cs typeface="Times New Roman"/>
              </a:rPr>
              <a:t>Tooling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Axis</a:t>
            </a:r>
            <a:r>
              <a:rPr sz="1500" b="1" spc="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Establish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for</a:t>
            </a:r>
            <a:r>
              <a:rPr sz="1500" spc="-10" dirty="0">
                <a:latin typeface="Times New Roman"/>
                <a:cs typeface="Times New Roman"/>
              </a:rPr>
              <a:t> manufacturability.</a:t>
            </a:r>
            <a:r>
              <a:rPr sz="1500" spc="-114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Analyze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geometry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feasible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mold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opening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direction.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case we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first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direction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assembly direction</a:t>
            </a:r>
            <a:r>
              <a:rPr sz="1500" spc="-10" dirty="0">
                <a:latin typeface="Times New Roman"/>
                <a:cs typeface="Times New Roman"/>
              </a:rPr>
              <a:t> (i.e.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5" dirty="0">
                <a:latin typeface="Times New Roman"/>
                <a:cs typeface="Times New Roman"/>
              </a:rPr>
              <a:t>Y-</a:t>
            </a:r>
            <a:r>
              <a:rPr sz="1500" dirty="0">
                <a:latin typeface="Times New Roman"/>
                <a:cs typeface="Times New Roman"/>
              </a:rPr>
              <a:t>Axis)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modify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 if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required.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Apply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8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Angles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 industry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standards.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(commonly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depend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grain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pattern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change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)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Adjust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maintain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styling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intent,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consistency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across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faces.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Perform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Draft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Analysis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analysis.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Run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software.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Highlight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positive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 negative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regions.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Confirm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all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meet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requirements.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spc="-10" dirty="0">
                <a:latin typeface="Times New Roman"/>
                <a:cs typeface="Times New Roman"/>
              </a:rPr>
              <a:t>Results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circular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holes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emboss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need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modify.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5175" y="2286127"/>
            <a:ext cx="11661775" cy="4316730"/>
            <a:chOff x="265175" y="2286127"/>
            <a:chExt cx="11661775" cy="4316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6967" y="2286127"/>
              <a:ext cx="5959855" cy="37123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175" y="4434967"/>
              <a:ext cx="3148965" cy="216763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946895" y="3305556"/>
              <a:ext cx="1541780" cy="1513840"/>
            </a:xfrm>
            <a:custGeom>
              <a:avLst/>
              <a:gdLst/>
              <a:ahLst/>
              <a:cxnLst/>
              <a:rect l="l" t="t" r="r" b="b"/>
              <a:pathLst>
                <a:path w="1541779" h="1513839">
                  <a:moveTo>
                    <a:pt x="0" y="756666"/>
                  </a:moveTo>
                  <a:lnTo>
                    <a:pt x="1516" y="708806"/>
                  </a:lnTo>
                  <a:lnTo>
                    <a:pt x="6004" y="661739"/>
                  </a:lnTo>
                  <a:lnTo>
                    <a:pt x="13375" y="615552"/>
                  </a:lnTo>
                  <a:lnTo>
                    <a:pt x="23537" y="570334"/>
                  </a:lnTo>
                  <a:lnTo>
                    <a:pt x="36401" y="526174"/>
                  </a:lnTo>
                  <a:lnTo>
                    <a:pt x="51876" y="483160"/>
                  </a:lnTo>
                  <a:lnTo>
                    <a:pt x="69872" y="441381"/>
                  </a:lnTo>
                  <a:lnTo>
                    <a:pt x="90298" y="400926"/>
                  </a:lnTo>
                  <a:lnTo>
                    <a:pt x="113065" y="361882"/>
                  </a:lnTo>
                  <a:lnTo>
                    <a:pt x="138081" y="324339"/>
                  </a:lnTo>
                  <a:lnTo>
                    <a:pt x="165257" y="288385"/>
                  </a:lnTo>
                  <a:lnTo>
                    <a:pt x="194502" y="254109"/>
                  </a:lnTo>
                  <a:lnTo>
                    <a:pt x="225726" y="221599"/>
                  </a:lnTo>
                  <a:lnTo>
                    <a:pt x="258839" y="190943"/>
                  </a:lnTo>
                  <a:lnTo>
                    <a:pt x="293750" y="162232"/>
                  </a:lnTo>
                  <a:lnTo>
                    <a:pt x="330369" y="135552"/>
                  </a:lnTo>
                  <a:lnTo>
                    <a:pt x="368606" y="110993"/>
                  </a:lnTo>
                  <a:lnTo>
                    <a:pt x="408370" y="88643"/>
                  </a:lnTo>
                  <a:lnTo>
                    <a:pt x="449572" y="68590"/>
                  </a:lnTo>
                  <a:lnTo>
                    <a:pt x="492120" y="50924"/>
                  </a:lnTo>
                  <a:lnTo>
                    <a:pt x="535925" y="35733"/>
                  </a:lnTo>
                  <a:lnTo>
                    <a:pt x="580896" y="23105"/>
                  </a:lnTo>
                  <a:lnTo>
                    <a:pt x="626943" y="13129"/>
                  </a:lnTo>
                  <a:lnTo>
                    <a:pt x="673975" y="5894"/>
                  </a:lnTo>
                  <a:lnTo>
                    <a:pt x="721903" y="1488"/>
                  </a:lnTo>
                  <a:lnTo>
                    <a:pt x="770635" y="0"/>
                  </a:lnTo>
                  <a:lnTo>
                    <a:pt x="819368" y="1488"/>
                  </a:lnTo>
                  <a:lnTo>
                    <a:pt x="867296" y="5894"/>
                  </a:lnTo>
                  <a:lnTo>
                    <a:pt x="914328" y="13129"/>
                  </a:lnTo>
                  <a:lnTo>
                    <a:pt x="960375" y="23105"/>
                  </a:lnTo>
                  <a:lnTo>
                    <a:pt x="1005346" y="35733"/>
                  </a:lnTo>
                  <a:lnTo>
                    <a:pt x="1049151" y="50924"/>
                  </a:lnTo>
                  <a:lnTo>
                    <a:pt x="1091699" y="68590"/>
                  </a:lnTo>
                  <a:lnTo>
                    <a:pt x="1132901" y="88643"/>
                  </a:lnTo>
                  <a:lnTo>
                    <a:pt x="1172665" y="110993"/>
                  </a:lnTo>
                  <a:lnTo>
                    <a:pt x="1210902" y="135552"/>
                  </a:lnTo>
                  <a:lnTo>
                    <a:pt x="1247521" y="162232"/>
                  </a:lnTo>
                  <a:lnTo>
                    <a:pt x="1282432" y="190943"/>
                  </a:lnTo>
                  <a:lnTo>
                    <a:pt x="1315545" y="221599"/>
                  </a:lnTo>
                  <a:lnTo>
                    <a:pt x="1346769" y="254109"/>
                  </a:lnTo>
                  <a:lnTo>
                    <a:pt x="1376014" y="288385"/>
                  </a:lnTo>
                  <a:lnTo>
                    <a:pt x="1403190" y="324339"/>
                  </a:lnTo>
                  <a:lnTo>
                    <a:pt x="1428206" y="361882"/>
                  </a:lnTo>
                  <a:lnTo>
                    <a:pt x="1450973" y="400926"/>
                  </a:lnTo>
                  <a:lnTo>
                    <a:pt x="1471399" y="441381"/>
                  </a:lnTo>
                  <a:lnTo>
                    <a:pt x="1489395" y="483160"/>
                  </a:lnTo>
                  <a:lnTo>
                    <a:pt x="1504870" y="526174"/>
                  </a:lnTo>
                  <a:lnTo>
                    <a:pt x="1517734" y="570334"/>
                  </a:lnTo>
                  <a:lnTo>
                    <a:pt x="1527896" y="615552"/>
                  </a:lnTo>
                  <a:lnTo>
                    <a:pt x="1535267" y="661739"/>
                  </a:lnTo>
                  <a:lnTo>
                    <a:pt x="1539755" y="708806"/>
                  </a:lnTo>
                  <a:lnTo>
                    <a:pt x="1541272" y="756666"/>
                  </a:lnTo>
                  <a:lnTo>
                    <a:pt x="1539755" y="804525"/>
                  </a:lnTo>
                  <a:lnTo>
                    <a:pt x="1535267" y="851592"/>
                  </a:lnTo>
                  <a:lnTo>
                    <a:pt x="1527896" y="897779"/>
                  </a:lnTo>
                  <a:lnTo>
                    <a:pt x="1517734" y="942997"/>
                  </a:lnTo>
                  <a:lnTo>
                    <a:pt x="1504870" y="987157"/>
                  </a:lnTo>
                  <a:lnTo>
                    <a:pt x="1489395" y="1030171"/>
                  </a:lnTo>
                  <a:lnTo>
                    <a:pt x="1471399" y="1071950"/>
                  </a:lnTo>
                  <a:lnTo>
                    <a:pt x="1450973" y="1112405"/>
                  </a:lnTo>
                  <a:lnTo>
                    <a:pt x="1428206" y="1151449"/>
                  </a:lnTo>
                  <a:lnTo>
                    <a:pt x="1403190" y="1188992"/>
                  </a:lnTo>
                  <a:lnTo>
                    <a:pt x="1376014" y="1224946"/>
                  </a:lnTo>
                  <a:lnTo>
                    <a:pt x="1346769" y="1259222"/>
                  </a:lnTo>
                  <a:lnTo>
                    <a:pt x="1315545" y="1291732"/>
                  </a:lnTo>
                  <a:lnTo>
                    <a:pt x="1282432" y="1322388"/>
                  </a:lnTo>
                  <a:lnTo>
                    <a:pt x="1247521" y="1351099"/>
                  </a:lnTo>
                  <a:lnTo>
                    <a:pt x="1210902" y="1377779"/>
                  </a:lnTo>
                  <a:lnTo>
                    <a:pt x="1172665" y="1402338"/>
                  </a:lnTo>
                  <a:lnTo>
                    <a:pt x="1132901" y="1424688"/>
                  </a:lnTo>
                  <a:lnTo>
                    <a:pt x="1091699" y="1444741"/>
                  </a:lnTo>
                  <a:lnTo>
                    <a:pt x="1049151" y="1462407"/>
                  </a:lnTo>
                  <a:lnTo>
                    <a:pt x="1005346" y="1477598"/>
                  </a:lnTo>
                  <a:lnTo>
                    <a:pt x="960375" y="1490226"/>
                  </a:lnTo>
                  <a:lnTo>
                    <a:pt x="914328" y="1500202"/>
                  </a:lnTo>
                  <a:lnTo>
                    <a:pt x="867296" y="1507437"/>
                  </a:lnTo>
                  <a:lnTo>
                    <a:pt x="819368" y="1511843"/>
                  </a:lnTo>
                  <a:lnTo>
                    <a:pt x="770635" y="1513332"/>
                  </a:lnTo>
                  <a:lnTo>
                    <a:pt x="721903" y="1511843"/>
                  </a:lnTo>
                  <a:lnTo>
                    <a:pt x="673975" y="1507437"/>
                  </a:lnTo>
                  <a:lnTo>
                    <a:pt x="626943" y="1500202"/>
                  </a:lnTo>
                  <a:lnTo>
                    <a:pt x="580896" y="1490226"/>
                  </a:lnTo>
                  <a:lnTo>
                    <a:pt x="535925" y="1477598"/>
                  </a:lnTo>
                  <a:lnTo>
                    <a:pt x="492120" y="1462407"/>
                  </a:lnTo>
                  <a:lnTo>
                    <a:pt x="449572" y="1444741"/>
                  </a:lnTo>
                  <a:lnTo>
                    <a:pt x="408370" y="1424688"/>
                  </a:lnTo>
                  <a:lnTo>
                    <a:pt x="368606" y="1402338"/>
                  </a:lnTo>
                  <a:lnTo>
                    <a:pt x="330369" y="1377779"/>
                  </a:lnTo>
                  <a:lnTo>
                    <a:pt x="293750" y="1351099"/>
                  </a:lnTo>
                  <a:lnTo>
                    <a:pt x="258839" y="1322388"/>
                  </a:lnTo>
                  <a:lnTo>
                    <a:pt x="225726" y="1291732"/>
                  </a:lnTo>
                  <a:lnTo>
                    <a:pt x="194502" y="1259222"/>
                  </a:lnTo>
                  <a:lnTo>
                    <a:pt x="165257" y="1224946"/>
                  </a:lnTo>
                  <a:lnTo>
                    <a:pt x="138081" y="1188992"/>
                  </a:lnTo>
                  <a:lnTo>
                    <a:pt x="113065" y="1151449"/>
                  </a:lnTo>
                  <a:lnTo>
                    <a:pt x="90298" y="1112405"/>
                  </a:lnTo>
                  <a:lnTo>
                    <a:pt x="69872" y="1071950"/>
                  </a:lnTo>
                  <a:lnTo>
                    <a:pt x="51876" y="1030171"/>
                  </a:lnTo>
                  <a:lnTo>
                    <a:pt x="36401" y="987157"/>
                  </a:lnTo>
                  <a:lnTo>
                    <a:pt x="23537" y="942997"/>
                  </a:lnTo>
                  <a:lnTo>
                    <a:pt x="13375" y="897779"/>
                  </a:lnTo>
                  <a:lnTo>
                    <a:pt x="6004" y="851592"/>
                  </a:lnTo>
                  <a:lnTo>
                    <a:pt x="1516" y="804525"/>
                  </a:lnTo>
                  <a:lnTo>
                    <a:pt x="0" y="756666"/>
                  </a:lnTo>
                  <a:close/>
                </a:path>
              </a:pathLst>
            </a:custGeom>
            <a:ln w="381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200399" y="4141851"/>
              <a:ext cx="5750560" cy="1311910"/>
            </a:xfrm>
            <a:custGeom>
              <a:avLst/>
              <a:gdLst/>
              <a:ahLst/>
              <a:cxnLst/>
              <a:rect l="l" t="t" r="r" b="b"/>
              <a:pathLst>
                <a:path w="5750559" h="1311910">
                  <a:moveTo>
                    <a:pt x="99440" y="1200150"/>
                  </a:moveTo>
                  <a:lnTo>
                    <a:pt x="0" y="1280541"/>
                  </a:lnTo>
                  <a:lnTo>
                    <a:pt x="123951" y="1311783"/>
                  </a:lnTo>
                  <a:lnTo>
                    <a:pt x="116701" y="1278763"/>
                  </a:lnTo>
                  <a:lnTo>
                    <a:pt x="97154" y="1278763"/>
                  </a:lnTo>
                  <a:lnTo>
                    <a:pt x="88900" y="1241552"/>
                  </a:lnTo>
                  <a:lnTo>
                    <a:pt x="107628" y="1237439"/>
                  </a:lnTo>
                  <a:lnTo>
                    <a:pt x="99440" y="1200150"/>
                  </a:lnTo>
                  <a:close/>
                </a:path>
                <a:path w="5750559" h="1311910">
                  <a:moveTo>
                    <a:pt x="107628" y="1237439"/>
                  </a:moveTo>
                  <a:lnTo>
                    <a:pt x="88900" y="1241552"/>
                  </a:lnTo>
                  <a:lnTo>
                    <a:pt x="97154" y="1278763"/>
                  </a:lnTo>
                  <a:lnTo>
                    <a:pt x="115802" y="1274667"/>
                  </a:lnTo>
                  <a:lnTo>
                    <a:pt x="107628" y="1237439"/>
                  </a:lnTo>
                  <a:close/>
                </a:path>
                <a:path w="5750559" h="1311910">
                  <a:moveTo>
                    <a:pt x="115802" y="1274667"/>
                  </a:moveTo>
                  <a:lnTo>
                    <a:pt x="97154" y="1278763"/>
                  </a:lnTo>
                  <a:lnTo>
                    <a:pt x="116701" y="1278763"/>
                  </a:lnTo>
                  <a:lnTo>
                    <a:pt x="115802" y="1274667"/>
                  </a:lnTo>
                  <a:close/>
                </a:path>
                <a:path w="5750559" h="1311910">
                  <a:moveTo>
                    <a:pt x="5742432" y="0"/>
                  </a:moveTo>
                  <a:lnTo>
                    <a:pt x="107628" y="1237439"/>
                  </a:lnTo>
                  <a:lnTo>
                    <a:pt x="115802" y="1274667"/>
                  </a:lnTo>
                  <a:lnTo>
                    <a:pt x="5750559" y="37211"/>
                  </a:lnTo>
                  <a:lnTo>
                    <a:pt x="574243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5" dirty="0"/>
              <a:t>Tooling</a:t>
            </a:r>
            <a:r>
              <a:rPr spc="-135" dirty="0"/>
              <a:t> </a:t>
            </a:r>
            <a:r>
              <a:rPr dirty="0"/>
              <a:t>Axis</a:t>
            </a:r>
            <a:r>
              <a:rPr spc="-25" dirty="0"/>
              <a:t> </a:t>
            </a:r>
            <a:r>
              <a:rPr dirty="0"/>
              <a:t>Creation</a:t>
            </a:r>
            <a:r>
              <a:rPr spc="-2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Class</a:t>
            </a:r>
            <a:r>
              <a:rPr spc="-135" dirty="0"/>
              <a:t> </a:t>
            </a:r>
            <a:r>
              <a:rPr spc="-20" dirty="0"/>
              <a:t>A</a:t>
            </a:r>
            <a:r>
              <a:rPr spc="-110" dirty="0"/>
              <a:t> </a:t>
            </a:r>
            <a:r>
              <a:rPr dirty="0"/>
              <a:t>Surface</a:t>
            </a:r>
            <a:r>
              <a:rPr spc="-25" dirty="0"/>
              <a:t> </a:t>
            </a:r>
            <a:r>
              <a:rPr dirty="0"/>
              <a:t>Draft</a:t>
            </a:r>
            <a:r>
              <a:rPr spc="-140" dirty="0"/>
              <a:t> </a:t>
            </a:r>
            <a:r>
              <a:rPr spc="-10" dirty="0"/>
              <a:t>Analysis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4102" y="1289811"/>
            <a:ext cx="10143744" cy="49463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43915" y="626109"/>
            <a:ext cx="73609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Created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sweep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trimmed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provided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fillet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Curvature</a:t>
            </a:r>
            <a:r>
              <a:rPr spc="-95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257915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171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check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plastic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if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clears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minimum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radius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criteria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according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R21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(i.e.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2.5mm).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In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area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doesn't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follow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ECE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R21.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10967" y="1427099"/>
            <a:ext cx="6751320" cy="5047615"/>
            <a:chOff x="2410967" y="1427099"/>
            <a:chExt cx="6751320" cy="5047615"/>
          </a:xfrm>
        </p:grpSpPr>
        <p:sp>
          <p:nvSpPr>
            <p:cNvPr id="5" name="object 5"/>
            <p:cNvSpPr/>
            <p:nvPr/>
          </p:nvSpPr>
          <p:spPr>
            <a:xfrm>
              <a:off x="6437376" y="4096512"/>
              <a:ext cx="567055" cy="475615"/>
            </a:xfrm>
            <a:custGeom>
              <a:avLst/>
              <a:gdLst/>
              <a:ahLst/>
              <a:cxnLst/>
              <a:rect l="l" t="t" r="r" b="b"/>
              <a:pathLst>
                <a:path w="567054" h="475614">
                  <a:moveTo>
                    <a:pt x="0" y="237744"/>
                  </a:moveTo>
                  <a:lnTo>
                    <a:pt x="4565" y="195005"/>
                  </a:lnTo>
                  <a:lnTo>
                    <a:pt x="17729" y="154781"/>
                  </a:lnTo>
                  <a:lnTo>
                    <a:pt x="38692" y="117743"/>
                  </a:lnTo>
                  <a:lnTo>
                    <a:pt x="66654" y="84562"/>
                  </a:lnTo>
                  <a:lnTo>
                    <a:pt x="100816" y="55909"/>
                  </a:lnTo>
                  <a:lnTo>
                    <a:pt x="140377" y="32455"/>
                  </a:lnTo>
                  <a:lnTo>
                    <a:pt x="184538" y="14872"/>
                  </a:lnTo>
                  <a:lnTo>
                    <a:pt x="232500" y="3829"/>
                  </a:lnTo>
                  <a:lnTo>
                    <a:pt x="283464" y="0"/>
                  </a:lnTo>
                  <a:lnTo>
                    <a:pt x="334427" y="3829"/>
                  </a:lnTo>
                  <a:lnTo>
                    <a:pt x="382389" y="14872"/>
                  </a:lnTo>
                  <a:lnTo>
                    <a:pt x="426550" y="32455"/>
                  </a:lnTo>
                  <a:lnTo>
                    <a:pt x="466111" y="55909"/>
                  </a:lnTo>
                  <a:lnTo>
                    <a:pt x="500273" y="84562"/>
                  </a:lnTo>
                  <a:lnTo>
                    <a:pt x="528235" y="117743"/>
                  </a:lnTo>
                  <a:lnTo>
                    <a:pt x="549198" y="154781"/>
                  </a:lnTo>
                  <a:lnTo>
                    <a:pt x="562362" y="195005"/>
                  </a:lnTo>
                  <a:lnTo>
                    <a:pt x="566927" y="237744"/>
                  </a:lnTo>
                  <a:lnTo>
                    <a:pt x="562362" y="280482"/>
                  </a:lnTo>
                  <a:lnTo>
                    <a:pt x="549198" y="320706"/>
                  </a:lnTo>
                  <a:lnTo>
                    <a:pt x="528235" y="357744"/>
                  </a:lnTo>
                  <a:lnTo>
                    <a:pt x="500273" y="390925"/>
                  </a:lnTo>
                  <a:lnTo>
                    <a:pt x="466111" y="419578"/>
                  </a:lnTo>
                  <a:lnTo>
                    <a:pt x="426550" y="443032"/>
                  </a:lnTo>
                  <a:lnTo>
                    <a:pt x="382389" y="460615"/>
                  </a:lnTo>
                  <a:lnTo>
                    <a:pt x="334427" y="471658"/>
                  </a:lnTo>
                  <a:lnTo>
                    <a:pt x="283464" y="475488"/>
                  </a:lnTo>
                  <a:lnTo>
                    <a:pt x="232500" y="471658"/>
                  </a:lnTo>
                  <a:lnTo>
                    <a:pt x="184538" y="460615"/>
                  </a:lnTo>
                  <a:lnTo>
                    <a:pt x="140377" y="443032"/>
                  </a:lnTo>
                  <a:lnTo>
                    <a:pt x="100816" y="419578"/>
                  </a:lnTo>
                  <a:lnTo>
                    <a:pt x="66654" y="390925"/>
                  </a:lnTo>
                  <a:lnTo>
                    <a:pt x="38692" y="357744"/>
                  </a:lnTo>
                  <a:lnTo>
                    <a:pt x="17729" y="320706"/>
                  </a:lnTo>
                  <a:lnTo>
                    <a:pt x="4565" y="280482"/>
                  </a:lnTo>
                  <a:lnTo>
                    <a:pt x="0" y="237744"/>
                  </a:lnTo>
                  <a:close/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0967" y="1427099"/>
              <a:ext cx="6751320" cy="504748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75376" y="3215640"/>
              <a:ext cx="1472565" cy="1594485"/>
            </a:xfrm>
            <a:custGeom>
              <a:avLst/>
              <a:gdLst/>
              <a:ahLst/>
              <a:cxnLst/>
              <a:rect l="l" t="t" r="r" b="b"/>
              <a:pathLst>
                <a:path w="1472565" h="1594485">
                  <a:moveTo>
                    <a:pt x="0" y="1085469"/>
                  </a:moveTo>
                  <a:lnTo>
                    <a:pt x="2235" y="1030045"/>
                  </a:lnTo>
                  <a:lnTo>
                    <a:pt x="8786" y="976351"/>
                  </a:lnTo>
                  <a:lnTo>
                    <a:pt x="19421" y="924696"/>
                  </a:lnTo>
                  <a:lnTo>
                    <a:pt x="33908" y="875390"/>
                  </a:lnTo>
                  <a:lnTo>
                    <a:pt x="52013" y="828745"/>
                  </a:lnTo>
                  <a:lnTo>
                    <a:pt x="73505" y="785070"/>
                  </a:lnTo>
                  <a:lnTo>
                    <a:pt x="98151" y="744675"/>
                  </a:lnTo>
                  <a:lnTo>
                    <a:pt x="125720" y="707871"/>
                  </a:lnTo>
                  <a:lnTo>
                    <a:pt x="155978" y="674967"/>
                  </a:lnTo>
                  <a:lnTo>
                    <a:pt x="188693" y="646274"/>
                  </a:lnTo>
                  <a:lnTo>
                    <a:pt x="223634" y="622103"/>
                  </a:lnTo>
                  <a:lnTo>
                    <a:pt x="260567" y="602763"/>
                  </a:lnTo>
                  <a:lnTo>
                    <a:pt x="299260" y="588564"/>
                  </a:lnTo>
                  <a:lnTo>
                    <a:pt x="339482" y="579818"/>
                  </a:lnTo>
                  <a:lnTo>
                    <a:pt x="381000" y="576834"/>
                  </a:lnTo>
                  <a:lnTo>
                    <a:pt x="422517" y="579818"/>
                  </a:lnTo>
                  <a:lnTo>
                    <a:pt x="462739" y="588564"/>
                  </a:lnTo>
                  <a:lnTo>
                    <a:pt x="501432" y="602763"/>
                  </a:lnTo>
                  <a:lnTo>
                    <a:pt x="538365" y="622103"/>
                  </a:lnTo>
                  <a:lnTo>
                    <a:pt x="573306" y="646274"/>
                  </a:lnTo>
                  <a:lnTo>
                    <a:pt x="606021" y="674967"/>
                  </a:lnTo>
                  <a:lnTo>
                    <a:pt x="636279" y="707871"/>
                  </a:lnTo>
                  <a:lnTo>
                    <a:pt x="663848" y="744675"/>
                  </a:lnTo>
                  <a:lnTo>
                    <a:pt x="688494" y="785070"/>
                  </a:lnTo>
                  <a:lnTo>
                    <a:pt x="709986" y="828745"/>
                  </a:lnTo>
                  <a:lnTo>
                    <a:pt x="728091" y="875390"/>
                  </a:lnTo>
                  <a:lnTo>
                    <a:pt x="742578" y="924696"/>
                  </a:lnTo>
                  <a:lnTo>
                    <a:pt x="753213" y="976351"/>
                  </a:lnTo>
                  <a:lnTo>
                    <a:pt x="759764" y="1030045"/>
                  </a:lnTo>
                  <a:lnTo>
                    <a:pt x="762000" y="1085469"/>
                  </a:lnTo>
                  <a:lnTo>
                    <a:pt x="759764" y="1140892"/>
                  </a:lnTo>
                  <a:lnTo>
                    <a:pt x="753213" y="1194586"/>
                  </a:lnTo>
                  <a:lnTo>
                    <a:pt x="742578" y="1246241"/>
                  </a:lnTo>
                  <a:lnTo>
                    <a:pt x="728091" y="1295547"/>
                  </a:lnTo>
                  <a:lnTo>
                    <a:pt x="709986" y="1342192"/>
                  </a:lnTo>
                  <a:lnTo>
                    <a:pt x="688494" y="1385867"/>
                  </a:lnTo>
                  <a:lnTo>
                    <a:pt x="663848" y="1426262"/>
                  </a:lnTo>
                  <a:lnTo>
                    <a:pt x="636279" y="1463066"/>
                  </a:lnTo>
                  <a:lnTo>
                    <a:pt x="606021" y="1495970"/>
                  </a:lnTo>
                  <a:lnTo>
                    <a:pt x="573306" y="1524663"/>
                  </a:lnTo>
                  <a:lnTo>
                    <a:pt x="538365" y="1548834"/>
                  </a:lnTo>
                  <a:lnTo>
                    <a:pt x="501432" y="1568174"/>
                  </a:lnTo>
                  <a:lnTo>
                    <a:pt x="462739" y="1582373"/>
                  </a:lnTo>
                  <a:lnTo>
                    <a:pt x="422517" y="1591119"/>
                  </a:lnTo>
                  <a:lnTo>
                    <a:pt x="381000" y="1594104"/>
                  </a:lnTo>
                  <a:lnTo>
                    <a:pt x="339482" y="1591119"/>
                  </a:lnTo>
                  <a:lnTo>
                    <a:pt x="299260" y="1582373"/>
                  </a:lnTo>
                  <a:lnTo>
                    <a:pt x="260567" y="1568174"/>
                  </a:lnTo>
                  <a:lnTo>
                    <a:pt x="223634" y="1548834"/>
                  </a:lnTo>
                  <a:lnTo>
                    <a:pt x="188693" y="1524663"/>
                  </a:lnTo>
                  <a:lnTo>
                    <a:pt x="155978" y="1495970"/>
                  </a:lnTo>
                  <a:lnTo>
                    <a:pt x="125720" y="1463066"/>
                  </a:lnTo>
                  <a:lnTo>
                    <a:pt x="98151" y="1426262"/>
                  </a:lnTo>
                  <a:lnTo>
                    <a:pt x="73505" y="1385867"/>
                  </a:lnTo>
                  <a:lnTo>
                    <a:pt x="52013" y="1342192"/>
                  </a:lnTo>
                  <a:lnTo>
                    <a:pt x="33908" y="1295547"/>
                  </a:lnTo>
                  <a:lnTo>
                    <a:pt x="19421" y="1246241"/>
                  </a:lnTo>
                  <a:lnTo>
                    <a:pt x="8786" y="1194586"/>
                  </a:lnTo>
                  <a:lnTo>
                    <a:pt x="2235" y="1140892"/>
                  </a:lnTo>
                  <a:lnTo>
                    <a:pt x="0" y="1085469"/>
                  </a:lnTo>
                  <a:close/>
                </a:path>
                <a:path w="1472565" h="1594485">
                  <a:moveTo>
                    <a:pt x="710184" y="508635"/>
                  </a:moveTo>
                  <a:lnTo>
                    <a:pt x="712419" y="453211"/>
                  </a:lnTo>
                  <a:lnTo>
                    <a:pt x="718970" y="399517"/>
                  </a:lnTo>
                  <a:lnTo>
                    <a:pt x="729605" y="347862"/>
                  </a:lnTo>
                  <a:lnTo>
                    <a:pt x="744092" y="298556"/>
                  </a:lnTo>
                  <a:lnTo>
                    <a:pt x="762197" y="251911"/>
                  </a:lnTo>
                  <a:lnTo>
                    <a:pt x="783689" y="208236"/>
                  </a:lnTo>
                  <a:lnTo>
                    <a:pt x="808335" y="167841"/>
                  </a:lnTo>
                  <a:lnTo>
                    <a:pt x="835904" y="131037"/>
                  </a:lnTo>
                  <a:lnTo>
                    <a:pt x="866162" y="98133"/>
                  </a:lnTo>
                  <a:lnTo>
                    <a:pt x="898877" y="69440"/>
                  </a:lnTo>
                  <a:lnTo>
                    <a:pt x="933818" y="45269"/>
                  </a:lnTo>
                  <a:lnTo>
                    <a:pt x="970751" y="25929"/>
                  </a:lnTo>
                  <a:lnTo>
                    <a:pt x="1009444" y="11730"/>
                  </a:lnTo>
                  <a:lnTo>
                    <a:pt x="1049666" y="2984"/>
                  </a:lnTo>
                  <a:lnTo>
                    <a:pt x="1091183" y="0"/>
                  </a:lnTo>
                  <a:lnTo>
                    <a:pt x="1132701" y="2984"/>
                  </a:lnTo>
                  <a:lnTo>
                    <a:pt x="1172923" y="11730"/>
                  </a:lnTo>
                  <a:lnTo>
                    <a:pt x="1211616" y="25929"/>
                  </a:lnTo>
                  <a:lnTo>
                    <a:pt x="1248549" y="45269"/>
                  </a:lnTo>
                  <a:lnTo>
                    <a:pt x="1283490" y="69440"/>
                  </a:lnTo>
                  <a:lnTo>
                    <a:pt x="1316205" y="98133"/>
                  </a:lnTo>
                  <a:lnTo>
                    <a:pt x="1346463" y="131037"/>
                  </a:lnTo>
                  <a:lnTo>
                    <a:pt x="1374032" y="167841"/>
                  </a:lnTo>
                  <a:lnTo>
                    <a:pt x="1398678" y="208236"/>
                  </a:lnTo>
                  <a:lnTo>
                    <a:pt x="1420170" y="251911"/>
                  </a:lnTo>
                  <a:lnTo>
                    <a:pt x="1438275" y="298556"/>
                  </a:lnTo>
                  <a:lnTo>
                    <a:pt x="1452762" y="347862"/>
                  </a:lnTo>
                  <a:lnTo>
                    <a:pt x="1463397" y="399517"/>
                  </a:lnTo>
                  <a:lnTo>
                    <a:pt x="1469948" y="453211"/>
                  </a:lnTo>
                  <a:lnTo>
                    <a:pt x="1472183" y="508635"/>
                  </a:lnTo>
                  <a:lnTo>
                    <a:pt x="1469948" y="564036"/>
                  </a:lnTo>
                  <a:lnTo>
                    <a:pt x="1463397" y="617714"/>
                  </a:lnTo>
                  <a:lnTo>
                    <a:pt x="1452762" y="669359"/>
                  </a:lnTo>
                  <a:lnTo>
                    <a:pt x="1438275" y="718658"/>
                  </a:lnTo>
                  <a:lnTo>
                    <a:pt x="1420170" y="765302"/>
                  </a:lnTo>
                  <a:lnTo>
                    <a:pt x="1398678" y="808978"/>
                  </a:lnTo>
                  <a:lnTo>
                    <a:pt x="1374032" y="849378"/>
                  </a:lnTo>
                  <a:lnTo>
                    <a:pt x="1346463" y="886188"/>
                  </a:lnTo>
                  <a:lnTo>
                    <a:pt x="1316205" y="919100"/>
                  </a:lnTo>
                  <a:lnTo>
                    <a:pt x="1283490" y="947801"/>
                  </a:lnTo>
                  <a:lnTo>
                    <a:pt x="1248549" y="971980"/>
                  </a:lnTo>
                  <a:lnTo>
                    <a:pt x="1211616" y="991328"/>
                  </a:lnTo>
                  <a:lnTo>
                    <a:pt x="1172923" y="1005533"/>
                  </a:lnTo>
                  <a:lnTo>
                    <a:pt x="1132701" y="1014283"/>
                  </a:lnTo>
                  <a:lnTo>
                    <a:pt x="1091183" y="1017270"/>
                  </a:lnTo>
                  <a:lnTo>
                    <a:pt x="1049666" y="1014283"/>
                  </a:lnTo>
                  <a:lnTo>
                    <a:pt x="1009444" y="1005533"/>
                  </a:lnTo>
                  <a:lnTo>
                    <a:pt x="970751" y="991328"/>
                  </a:lnTo>
                  <a:lnTo>
                    <a:pt x="933818" y="971980"/>
                  </a:lnTo>
                  <a:lnTo>
                    <a:pt x="898877" y="947801"/>
                  </a:lnTo>
                  <a:lnTo>
                    <a:pt x="866162" y="919100"/>
                  </a:lnTo>
                  <a:lnTo>
                    <a:pt x="835904" y="886188"/>
                  </a:lnTo>
                  <a:lnTo>
                    <a:pt x="808335" y="849378"/>
                  </a:lnTo>
                  <a:lnTo>
                    <a:pt x="783689" y="808978"/>
                  </a:lnTo>
                  <a:lnTo>
                    <a:pt x="762197" y="765302"/>
                  </a:lnTo>
                  <a:lnTo>
                    <a:pt x="744092" y="718658"/>
                  </a:lnTo>
                  <a:lnTo>
                    <a:pt x="729605" y="669359"/>
                  </a:lnTo>
                  <a:lnTo>
                    <a:pt x="718970" y="617714"/>
                  </a:lnTo>
                  <a:lnTo>
                    <a:pt x="712419" y="564036"/>
                  </a:lnTo>
                  <a:lnTo>
                    <a:pt x="710184" y="508635"/>
                  </a:lnTo>
                  <a:close/>
                </a:path>
              </a:pathLst>
            </a:custGeom>
            <a:ln w="381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25" dirty="0"/>
              <a:t> </a:t>
            </a:r>
            <a:r>
              <a:rPr dirty="0"/>
              <a:t>B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6757034" cy="3134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Offset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Class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2.5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mm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entire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base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thickness.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Note: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Complex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regions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may fail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correctly,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especially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filleted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areas.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4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Missing/Failed</a:t>
            </a:r>
            <a:r>
              <a:rPr sz="1500" b="1" spc="-6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Regions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45" dirty="0">
                <a:latin typeface="Times New Roman"/>
                <a:cs typeface="Times New Roman"/>
              </a:rPr>
              <a:t>CATIA</a:t>
            </a:r>
            <a:r>
              <a:rPr sz="1500" spc="-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highlights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sub-</a:t>
            </a:r>
            <a:r>
              <a:rPr sz="1500" dirty="0">
                <a:latin typeface="Times New Roman"/>
                <a:cs typeface="Times New Roman"/>
              </a:rPr>
              <a:t>elements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(fillets,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patches)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cannot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offset.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must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reconstructed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manually.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Manual</a:t>
            </a:r>
            <a:r>
              <a:rPr sz="1500" b="1" spc="-4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patch</a:t>
            </a:r>
            <a:r>
              <a:rPr sz="1500" b="1" spc="-3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creation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Use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multi-</a:t>
            </a:r>
            <a:r>
              <a:rPr sz="1500" dirty="0">
                <a:latin typeface="Times New Roman"/>
                <a:cs typeface="Times New Roman"/>
              </a:rPr>
              <a:t>section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missing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from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A.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2.5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mm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match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rest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Join</a:t>
            </a:r>
            <a:r>
              <a:rPr sz="1500" b="1" spc="-2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Surfaces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Apply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Join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merge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patches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with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primary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offset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spc="-25" dirty="0">
                <a:latin typeface="Times New Roman"/>
                <a:cs typeface="Times New Roman"/>
              </a:rPr>
              <a:t>Verify </a:t>
            </a:r>
            <a:r>
              <a:rPr sz="1500" dirty="0">
                <a:latin typeface="Times New Roman"/>
                <a:cs typeface="Times New Roman"/>
              </a:rPr>
              <a:t>connectivity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command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no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gaps</a:t>
            </a:r>
            <a:r>
              <a:rPr sz="1500" spc="-10" dirty="0">
                <a:latin typeface="Times New Roman"/>
                <a:cs typeface="Times New Roman"/>
              </a:rPr>
              <a:t> remain.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8311" y="621791"/>
            <a:ext cx="4681728" cy="26925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5175" y="3815715"/>
            <a:ext cx="5297424" cy="27868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547104" y="3807586"/>
            <a:ext cx="5202936" cy="2795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</a:t>
            </a:r>
            <a:r>
              <a:rPr spc="-35" dirty="0"/>
              <a:t> </a:t>
            </a:r>
            <a:r>
              <a:rPr dirty="0"/>
              <a:t>C</a:t>
            </a:r>
            <a:r>
              <a:rPr spc="-15" dirty="0"/>
              <a:t> </a:t>
            </a:r>
            <a:r>
              <a:rPr dirty="0"/>
              <a:t>Surface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5238750" cy="8712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Identify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Boundary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of</a:t>
            </a:r>
            <a:r>
              <a:rPr sz="1500" b="1" spc="-2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Class</a:t>
            </a:r>
            <a:r>
              <a:rPr sz="1500" b="1" spc="-80" dirty="0">
                <a:latin typeface="Times New Roman"/>
                <a:cs typeface="Times New Roman"/>
              </a:rPr>
              <a:t> </a:t>
            </a:r>
            <a:r>
              <a:rPr sz="1500" b="1" dirty="0">
                <a:latin typeface="Times New Roman"/>
                <a:cs typeface="Times New Roman"/>
              </a:rPr>
              <a:t>A</a:t>
            </a:r>
            <a:r>
              <a:rPr sz="1500" b="1" spc="-9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Surface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Extract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boundary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of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-8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  <a:p>
            <a:pPr marL="299085" marR="5080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These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edges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will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serve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</a:t>
            </a:r>
            <a:r>
              <a:rPr sz="1500" spc="7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reference</a:t>
            </a:r>
            <a:r>
              <a:rPr sz="1500" spc="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creating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65" dirty="0">
                <a:latin typeface="Times New Roman"/>
                <a:cs typeface="Times New Roman"/>
              </a:rPr>
              <a:t> </a:t>
            </a:r>
            <a:r>
              <a:rPr sz="1500" spc="-50" dirty="0">
                <a:latin typeface="Times New Roman"/>
                <a:cs typeface="Times New Roman"/>
              </a:rPr>
              <a:t>C </a:t>
            </a:r>
            <a:r>
              <a:rPr sz="1500" spc="-10" dirty="0">
                <a:latin typeface="Times New Roman"/>
                <a:cs typeface="Times New Roman"/>
              </a:rPr>
              <a:t>surface.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dirty="0"/>
              <a:t>Define</a:t>
            </a:r>
            <a:r>
              <a:rPr spc="-15" dirty="0"/>
              <a:t> </a:t>
            </a:r>
            <a:r>
              <a:rPr spc="-30" dirty="0"/>
              <a:t>Tooling</a:t>
            </a:r>
            <a:r>
              <a:rPr spc="-95" dirty="0"/>
              <a:t> </a:t>
            </a:r>
            <a:r>
              <a:rPr spc="-20" dirty="0"/>
              <a:t>Axis</a:t>
            </a: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latin typeface="Times New Roman"/>
                <a:cs typeface="Times New Roman"/>
              </a:rPr>
              <a:t>Establish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tooling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axis based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on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draft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requirements.</a:t>
            </a: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latin typeface="Times New Roman"/>
                <a:cs typeface="Times New Roman"/>
              </a:rPr>
              <a:t>This</a:t>
            </a:r>
            <a:r>
              <a:rPr b="0" spc="2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ensures</a:t>
            </a:r>
            <a:r>
              <a:rPr b="0" spc="2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that</a:t>
            </a:r>
            <a:r>
              <a:rPr b="0" spc="2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2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Class</a:t>
            </a:r>
            <a:r>
              <a:rPr b="0" spc="2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</a:t>
            </a:r>
            <a:r>
              <a:rPr b="0" spc="2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surface</a:t>
            </a:r>
            <a:r>
              <a:rPr b="0" spc="2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will</a:t>
            </a:r>
            <a:r>
              <a:rPr b="0" spc="26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be</a:t>
            </a:r>
            <a:r>
              <a:rPr b="0" spc="26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manufacturable</a:t>
            </a:r>
          </a:p>
          <a:p>
            <a:pPr marL="299085">
              <a:lnSpc>
                <a:spcPts val="1710"/>
              </a:lnSpc>
            </a:pP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proper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draft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angles.</a:t>
            </a: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dirty="0"/>
              <a:t>Sweep</a:t>
            </a:r>
            <a:r>
              <a:rPr spc="-45" dirty="0"/>
              <a:t> </a:t>
            </a:r>
            <a:r>
              <a:rPr spc="-10" dirty="0"/>
              <a:t>Operation</a:t>
            </a:r>
          </a:p>
          <a:p>
            <a:pPr marL="299085" marR="6985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b="0" dirty="0">
                <a:latin typeface="Times New Roman"/>
                <a:cs typeface="Times New Roman"/>
              </a:rPr>
              <a:t>Use</a:t>
            </a:r>
            <a:r>
              <a:rPr b="0" spc="3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34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Sweep</a:t>
            </a:r>
            <a:r>
              <a:rPr b="0" spc="3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command</a:t>
            </a:r>
            <a:r>
              <a:rPr b="0" spc="3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along</a:t>
            </a:r>
            <a:r>
              <a:rPr b="0" spc="3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34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tooling</a:t>
            </a:r>
            <a:r>
              <a:rPr b="0" spc="3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axis</a:t>
            </a:r>
            <a:r>
              <a:rPr b="0" spc="3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36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generate </a:t>
            </a:r>
            <a:r>
              <a:rPr b="0" dirty="0">
                <a:latin typeface="Times New Roman"/>
                <a:cs typeface="Times New Roman"/>
              </a:rPr>
              <a:t>Class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surfaces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from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extracted</a:t>
            </a:r>
            <a:r>
              <a:rPr b="0" spc="-4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boundaries.</a:t>
            </a:r>
          </a:p>
          <a:p>
            <a:pPr marL="299085" indent="-286385">
              <a:lnSpc>
                <a:spcPts val="1505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latin typeface="Times New Roman"/>
                <a:cs typeface="Times New Roman"/>
              </a:rPr>
              <a:t>Apply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required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draft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angle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(0.5°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specified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class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A</a:t>
            </a:r>
            <a:r>
              <a:rPr b="0" spc="-9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surface</a:t>
            </a:r>
          </a:p>
          <a:p>
            <a:pPr marL="299085">
              <a:lnSpc>
                <a:spcPts val="1710"/>
              </a:lnSpc>
            </a:pPr>
            <a:r>
              <a:rPr b="0" dirty="0">
                <a:latin typeface="Times New Roman"/>
                <a:cs typeface="Times New Roman"/>
              </a:rPr>
              <a:t>to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clear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in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core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side)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during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sweep.</a:t>
            </a: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dirty="0"/>
              <a:t>Check</a:t>
            </a:r>
            <a:r>
              <a:rPr spc="-45" dirty="0"/>
              <a:t> </a:t>
            </a:r>
            <a:r>
              <a:rPr spc="-10" dirty="0"/>
              <a:t>Continuity</a:t>
            </a:r>
          </a:p>
          <a:p>
            <a:pPr marL="299085" marR="6985" indent="-287020">
              <a:lnSpc>
                <a:spcPts val="1620"/>
              </a:lnSpc>
              <a:spcBef>
                <a:spcPts val="115"/>
              </a:spcBef>
              <a:buFont typeface="Arial MT"/>
              <a:buChar char="•"/>
              <a:tabLst>
                <a:tab pos="299085" algn="l"/>
              </a:tabLst>
            </a:pPr>
            <a:r>
              <a:rPr b="0" dirty="0">
                <a:latin typeface="Times New Roman"/>
                <a:cs typeface="Times New Roman"/>
              </a:rPr>
              <a:t>Verify</a:t>
            </a:r>
            <a:r>
              <a:rPr b="0" spc="1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that</a:t>
            </a:r>
            <a:r>
              <a:rPr b="0" spc="1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1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swept</a:t>
            </a:r>
            <a:r>
              <a:rPr b="0" spc="1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Class</a:t>
            </a:r>
            <a:r>
              <a:rPr b="0" spc="1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</a:t>
            </a:r>
            <a:r>
              <a:rPr b="0" spc="18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surfaces</a:t>
            </a:r>
            <a:r>
              <a:rPr b="0" spc="1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connect</a:t>
            </a:r>
            <a:r>
              <a:rPr b="0" spc="19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smoothly</a:t>
            </a:r>
            <a:r>
              <a:rPr b="0" spc="185" dirty="0">
                <a:latin typeface="Times New Roman"/>
                <a:cs typeface="Times New Roman"/>
              </a:rPr>
              <a:t> </a:t>
            </a:r>
            <a:r>
              <a:rPr b="0" spc="-20" dirty="0">
                <a:latin typeface="Times New Roman"/>
                <a:cs typeface="Times New Roman"/>
              </a:rPr>
              <a:t>with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Class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</a:t>
            </a:r>
            <a:r>
              <a:rPr b="0" spc="-8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 Class B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surfaces.</a:t>
            </a:r>
          </a:p>
          <a:p>
            <a:pPr marL="299085" marR="6985" indent="-287020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latin typeface="Times New Roman"/>
                <a:cs typeface="Times New Roman"/>
              </a:rPr>
              <a:t>Adjust</a:t>
            </a:r>
            <a:r>
              <a:rPr b="0" spc="49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sweep</a:t>
            </a:r>
            <a:r>
              <a:rPr b="0" spc="49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parameters</a:t>
            </a:r>
            <a:r>
              <a:rPr b="0" spc="60" dirty="0">
                <a:latin typeface="Times New Roman"/>
                <a:cs typeface="Times New Roman"/>
              </a:rPr>
              <a:t>  </a:t>
            </a:r>
            <a:r>
              <a:rPr b="0" dirty="0">
                <a:latin typeface="Times New Roman"/>
                <a:cs typeface="Times New Roman"/>
              </a:rPr>
              <a:t>or</a:t>
            </a:r>
            <a:r>
              <a:rPr b="0" spc="60" dirty="0">
                <a:latin typeface="Times New Roman"/>
                <a:cs typeface="Times New Roman"/>
              </a:rPr>
              <a:t>  </a:t>
            </a:r>
            <a:r>
              <a:rPr b="0" dirty="0">
                <a:latin typeface="Times New Roman"/>
                <a:cs typeface="Times New Roman"/>
              </a:rPr>
              <a:t>extend</a:t>
            </a:r>
            <a:r>
              <a:rPr b="0" spc="65" dirty="0">
                <a:latin typeface="Times New Roman"/>
                <a:cs typeface="Times New Roman"/>
              </a:rPr>
              <a:t>  </a:t>
            </a:r>
            <a:r>
              <a:rPr b="0" dirty="0">
                <a:latin typeface="Times New Roman"/>
                <a:cs typeface="Times New Roman"/>
              </a:rPr>
              <a:t>boundaries</a:t>
            </a:r>
            <a:r>
              <a:rPr b="0" spc="60" dirty="0">
                <a:latin typeface="Times New Roman"/>
                <a:cs typeface="Times New Roman"/>
              </a:rPr>
              <a:t>  </a:t>
            </a:r>
            <a:r>
              <a:rPr b="0" dirty="0">
                <a:latin typeface="Times New Roman"/>
                <a:cs typeface="Times New Roman"/>
              </a:rPr>
              <a:t>if</a:t>
            </a:r>
            <a:r>
              <a:rPr b="0" spc="60" dirty="0">
                <a:latin typeface="Times New Roman"/>
                <a:cs typeface="Times New Roman"/>
              </a:rPr>
              <a:t>  </a:t>
            </a:r>
            <a:r>
              <a:rPr b="0" dirty="0">
                <a:latin typeface="Times New Roman"/>
                <a:cs typeface="Times New Roman"/>
              </a:rPr>
              <a:t>gaps</a:t>
            </a:r>
            <a:r>
              <a:rPr b="0" spc="49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are </a:t>
            </a:r>
            <a:r>
              <a:rPr b="0" spc="-10" dirty="0">
                <a:latin typeface="Times New Roman"/>
                <a:cs typeface="Times New Roman"/>
              </a:rPr>
              <a:t>detected.</a:t>
            </a:r>
          </a:p>
          <a:p>
            <a:pPr marL="12700">
              <a:lnSpc>
                <a:spcPts val="1710"/>
              </a:lnSpc>
              <a:spcBef>
                <a:spcPts val="1415"/>
              </a:spcBef>
            </a:pPr>
            <a:r>
              <a:rPr dirty="0"/>
              <a:t>Join</a:t>
            </a:r>
            <a:r>
              <a:rPr spc="-25" dirty="0"/>
              <a:t> </a:t>
            </a:r>
            <a:r>
              <a:rPr spc="-10" dirty="0"/>
              <a:t>Surfaces</a:t>
            </a:r>
          </a:p>
          <a:p>
            <a:pPr marL="299085" marR="5080" indent="-287020">
              <a:lnSpc>
                <a:spcPts val="1620"/>
              </a:lnSpc>
              <a:spcBef>
                <a:spcPts val="114"/>
              </a:spcBef>
              <a:buFont typeface="Arial MT"/>
              <a:buChar char="•"/>
              <a:tabLst>
                <a:tab pos="299085" algn="l"/>
              </a:tabLst>
            </a:pPr>
            <a:r>
              <a:rPr b="0" dirty="0">
                <a:latin typeface="Times New Roman"/>
                <a:cs typeface="Times New Roman"/>
              </a:rPr>
              <a:t>Merge</a:t>
            </a:r>
            <a:r>
              <a:rPr b="0" spc="5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Class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surfaces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Class</a:t>
            </a:r>
            <a:r>
              <a:rPr b="0" spc="7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and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Class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</a:t>
            </a:r>
            <a:r>
              <a:rPr b="0" spc="6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using</a:t>
            </a:r>
            <a:r>
              <a:rPr b="0" spc="70" dirty="0">
                <a:latin typeface="Times New Roman"/>
                <a:cs typeface="Times New Roman"/>
              </a:rPr>
              <a:t> </a:t>
            </a:r>
            <a:r>
              <a:rPr b="0" spc="-25" dirty="0">
                <a:latin typeface="Times New Roman"/>
                <a:cs typeface="Times New Roman"/>
              </a:rPr>
              <a:t>the </a:t>
            </a:r>
            <a:r>
              <a:rPr b="0" dirty="0">
                <a:latin typeface="Times New Roman"/>
                <a:cs typeface="Times New Roman"/>
              </a:rPr>
              <a:t>Join</a:t>
            </a:r>
            <a:r>
              <a:rPr b="0" spc="-15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command.</a:t>
            </a:r>
          </a:p>
          <a:p>
            <a:pPr marL="299085" indent="-286385">
              <a:lnSpc>
                <a:spcPts val="1595"/>
              </a:lnSpc>
              <a:buFont typeface="Arial MT"/>
              <a:buChar char="•"/>
              <a:tabLst>
                <a:tab pos="299085" algn="l"/>
              </a:tabLst>
            </a:pPr>
            <a:r>
              <a:rPr b="0" dirty="0">
                <a:latin typeface="Times New Roman"/>
                <a:cs typeface="Times New Roman"/>
              </a:rPr>
              <a:t>Ensure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the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joined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body</a:t>
            </a:r>
            <a:r>
              <a:rPr b="0" spc="-3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forms</a:t>
            </a:r>
            <a:r>
              <a:rPr b="0" spc="-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a</a:t>
            </a:r>
            <a:r>
              <a:rPr b="0" spc="-1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closed</a:t>
            </a:r>
            <a:r>
              <a:rPr b="0" spc="-20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surface</a:t>
            </a:r>
            <a:r>
              <a:rPr b="0" spc="-25" dirty="0">
                <a:latin typeface="Times New Roman"/>
                <a:cs typeface="Times New Roman"/>
              </a:rPr>
              <a:t> </a:t>
            </a:r>
            <a:r>
              <a:rPr b="0" dirty="0">
                <a:latin typeface="Times New Roman"/>
                <a:cs typeface="Times New Roman"/>
              </a:rPr>
              <a:t>without</a:t>
            </a:r>
            <a:r>
              <a:rPr b="0" spc="-30" dirty="0">
                <a:latin typeface="Times New Roman"/>
                <a:cs typeface="Times New Roman"/>
              </a:rPr>
              <a:t> </a:t>
            </a:r>
            <a:r>
              <a:rPr b="0" spc="-10" dirty="0">
                <a:latin typeface="Times New Roman"/>
                <a:cs typeface="Times New Roman"/>
              </a:rPr>
              <a:t>openings.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633971" y="621791"/>
            <a:ext cx="4657725" cy="2677795"/>
            <a:chOff x="6633971" y="621791"/>
            <a:chExt cx="4657725" cy="267779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33971" y="621791"/>
              <a:ext cx="4657344" cy="267754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163305" y="1451991"/>
              <a:ext cx="1310005" cy="1017269"/>
            </a:xfrm>
            <a:custGeom>
              <a:avLst/>
              <a:gdLst/>
              <a:ahLst/>
              <a:cxnLst/>
              <a:rect l="l" t="t" r="r" b="b"/>
              <a:pathLst>
                <a:path w="1310004" h="1017269">
                  <a:moveTo>
                    <a:pt x="0" y="508635"/>
                  </a:moveTo>
                  <a:lnTo>
                    <a:pt x="2171" y="466917"/>
                  </a:lnTo>
                  <a:lnTo>
                    <a:pt x="8572" y="426128"/>
                  </a:lnTo>
                  <a:lnTo>
                    <a:pt x="19035" y="386400"/>
                  </a:lnTo>
                  <a:lnTo>
                    <a:pt x="33390" y="347862"/>
                  </a:lnTo>
                  <a:lnTo>
                    <a:pt x="51470" y="310645"/>
                  </a:lnTo>
                  <a:lnTo>
                    <a:pt x="73106" y="274882"/>
                  </a:lnTo>
                  <a:lnTo>
                    <a:pt x="98128" y="240702"/>
                  </a:lnTo>
                  <a:lnTo>
                    <a:pt x="126370" y="208236"/>
                  </a:lnTo>
                  <a:lnTo>
                    <a:pt x="157661" y="177615"/>
                  </a:lnTo>
                  <a:lnTo>
                    <a:pt x="191833" y="148971"/>
                  </a:lnTo>
                  <a:lnTo>
                    <a:pt x="228718" y="122433"/>
                  </a:lnTo>
                  <a:lnTo>
                    <a:pt x="268147" y="98133"/>
                  </a:lnTo>
                  <a:lnTo>
                    <a:pt x="309952" y="76202"/>
                  </a:lnTo>
                  <a:lnTo>
                    <a:pt x="353964" y="56770"/>
                  </a:lnTo>
                  <a:lnTo>
                    <a:pt x="400014" y="39969"/>
                  </a:lnTo>
                  <a:lnTo>
                    <a:pt x="447934" y="25929"/>
                  </a:lnTo>
                  <a:lnTo>
                    <a:pt x="497555" y="14781"/>
                  </a:lnTo>
                  <a:lnTo>
                    <a:pt x="548708" y="6656"/>
                  </a:lnTo>
                  <a:lnTo>
                    <a:pt x="601226" y="1686"/>
                  </a:lnTo>
                  <a:lnTo>
                    <a:pt x="654939" y="0"/>
                  </a:lnTo>
                  <a:lnTo>
                    <a:pt x="708651" y="1686"/>
                  </a:lnTo>
                  <a:lnTo>
                    <a:pt x="761169" y="6656"/>
                  </a:lnTo>
                  <a:lnTo>
                    <a:pt x="812322" y="14781"/>
                  </a:lnTo>
                  <a:lnTo>
                    <a:pt x="861943" y="25929"/>
                  </a:lnTo>
                  <a:lnTo>
                    <a:pt x="909863" y="39969"/>
                  </a:lnTo>
                  <a:lnTo>
                    <a:pt x="955913" y="56770"/>
                  </a:lnTo>
                  <a:lnTo>
                    <a:pt x="999925" y="76202"/>
                  </a:lnTo>
                  <a:lnTo>
                    <a:pt x="1041730" y="98133"/>
                  </a:lnTo>
                  <a:lnTo>
                    <a:pt x="1081159" y="122433"/>
                  </a:lnTo>
                  <a:lnTo>
                    <a:pt x="1118044" y="148971"/>
                  </a:lnTo>
                  <a:lnTo>
                    <a:pt x="1152216" y="177615"/>
                  </a:lnTo>
                  <a:lnTo>
                    <a:pt x="1183507" y="208236"/>
                  </a:lnTo>
                  <a:lnTo>
                    <a:pt x="1211749" y="240702"/>
                  </a:lnTo>
                  <a:lnTo>
                    <a:pt x="1236771" y="274882"/>
                  </a:lnTo>
                  <a:lnTo>
                    <a:pt x="1258407" y="310645"/>
                  </a:lnTo>
                  <a:lnTo>
                    <a:pt x="1276487" y="347862"/>
                  </a:lnTo>
                  <a:lnTo>
                    <a:pt x="1290842" y="386400"/>
                  </a:lnTo>
                  <a:lnTo>
                    <a:pt x="1301305" y="426128"/>
                  </a:lnTo>
                  <a:lnTo>
                    <a:pt x="1307706" y="466917"/>
                  </a:lnTo>
                  <a:lnTo>
                    <a:pt x="1309877" y="508635"/>
                  </a:lnTo>
                  <a:lnTo>
                    <a:pt x="1307706" y="550335"/>
                  </a:lnTo>
                  <a:lnTo>
                    <a:pt x="1301305" y="591110"/>
                  </a:lnTo>
                  <a:lnTo>
                    <a:pt x="1290842" y="630828"/>
                  </a:lnTo>
                  <a:lnTo>
                    <a:pt x="1276487" y="669359"/>
                  </a:lnTo>
                  <a:lnTo>
                    <a:pt x="1258407" y="706570"/>
                  </a:lnTo>
                  <a:lnTo>
                    <a:pt x="1236771" y="742331"/>
                  </a:lnTo>
                  <a:lnTo>
                    <a:pt x="1211749" y="776511"/>
                  </a:lnTo>
                  <a:lnTo>
                    <a:pt x="1183507" y="808978"/>
                  </a:lnTo>
                  <a:lnTo>
                    <a:pt x="1152216" y="839602"/>
                  </a:lnTo>
                  <a:lnTo>
                    <a:pt x="1118044" y="868251"/>
                  </a:lnTo>
                  <a:lnTo>
                    <a:pt x="1081159" y="894794"/>
                  </a:lnTo>
                  <a:lnTo>
                    <a:pt x="1041730" y="919100"/>
                  </a:lnTo>
                  <a:lnTo>
                    <a:pt x="999925" y="941037"/>
                  </a:lnTo>
                  <a:lnTo>
                    <a:pt x="955913" y="960475"/>
                  </a:lnTo>
                  <a:lnTo>
                    <a:pt x="909863" y="977282"/>
                  </a:lnTo>
                  <a:lnTo>
                    <a:pt x="861943" y="991328"/>
                  </a:lnTo>
                  <a:lnTo>
                    <a:pt x="812322" y="1002481"/>
                  </a:lnTo>
                  <a:lnTo>
                    <a:pt x="761169" y="1010609"/>
                  </a:lnTo>
                  <a:lnTo>
                    <a:pt x="708651" y="1015583"/>
                  </a:lnTo>
                  <a:lnTo>
                    <a:pt x="654939" y="1017270"/>
                  </a:lnTo>
                  <a:lnTo>
                    <a:pt x="601226" y="1015583"/>
                  </a:lnTo>
                  <a:lnTo>
                    <a:pt x="548708" y="1010609"/>
                  </a:lnTo>
                  <a:lnTo>
                    <a:pt x="497555" y="1002481"/>
                  </a:lnTo>
                  <a:lnTo>
                    <a:pt x="447934" y="991328"/>
                  </a:lnTo>
                  <a:lnTo>
                    <a:pt x="400014" y="977282"/>
                  </a:lnTo>
                  <a:lnTo>
                    <a:pt x="353964" y="960475"/>
                  </a:lnTo>
                  <a:lnTo>
                    <a:pt x="309952" y="941037"/>
                  </a:lnTo>
                  <a:lnTo>
                    <a:pt x="268147" y="919100"/>
                  </a:lnTo>
                  <a:lnTo>
                    <a:pt x="228718" y="894794"/>
                  </a:lnTo>
                  <a:lnTo>
                    <a:pt x="191833" y="868251"/>
                  </a:lnTo>
                  <a:lnTo>
                    <a:pt x="157661" y="839602"/>
                  </a:lnTo>
                  <a:lnTo>
                    <a:pt x="126370" y="808978"/>
                  </a:lnTo>
                  <a:lnTo>
                    <a:pt x="98128" y="776511"/>
                  </a:lnTo>
                  <a:lnTo>
                    <a:pt x="73106" y="742331"/>
                  </a:lnTo>
                  <a:lnTo>
                    <a:pt x="51470" y="706570"/>
                  </a:lnTo>
                  <a:lnTo>
                    <a:pt x="33390" y="669359"/>
                  </a:lnTo>
                  <a:lnTo>
                    <a:pt x="19035" y="630828"/>
                  </a:lnTo>
                  <a:lnTo>
                    <a:pt x="8572" y="591110"/>
                  </a:lnTo>
                  <a:lnTo>
                    <a:pt x="2171" y="550335"/>
                  </a:lnTo>
                  <a:lnTo>
                    <a:pt x="0" y="508635"/>
                  </a:lnTo>
                  <a:close/>
                </a:path>
              </a:pathLst>
            </a:custGeom>
            <a:ln w="38100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33971" y="3365296"/>
            <a:ext cx="4674108" cy="314401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062466" y="1146047"/>
            <a:ext cx="2044700" cy="280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2090"/>
              </a:lnSpc>
            </a:pPr>
            <a:r>
              <a:rPr sz="1800" dirty="0">
                <a:latin typeface="Calibri"/>
                <a:cs typeface="Calibri"/>
              </a:rPr>
              <a:t>Undercut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C-Surface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Final</a:t>
            </a:r>
            <a:r>
              <a:rPr spc="-85" dirty="0"/>
              <a:t> </a:t>
            </a:r>
            <a:r>
              <a:rPr spc="-20" dirty="0"/>
              <a:t>Trim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Solid</a:t>
            </a:r>
            <a:r>
              <a:rPr spc="-45" dirty="0"/>
              <a:t> </a:t>
            </a:r>
            <a:r>
              <a:rPr dirty="0"/>
              <a:t>Part</a:t>
            </a:r>
            <a:r>
              <a:rPr spc="-40" dirty="0"/>
              <a:t> </a:t>
            </a:r>
            <a:r>
              <a:rPr spc="-10" dirty="0"/>
              <a:t>Conversion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8087995" cy="1488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71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Final</a:t>
            </a:r>
            <a:r>
              <a:rPr sz="1500" b="1" spc="-50" dirty="0">
                <a:latin typeface="Times New Roman"/>
                <a:cs typeface="Times New Roman"/>
              </a:rPr>
              <a:t> </a:t>
            </a:r>
            <a:r>
              <a:rPr sz="1500" b="1" spc="-20" dirty="0">
                <a:latin typeface="Times New Roman"/>
                <a:cs typeface="Times New Roman"/>
              </a:rPr>
              <a:t>Trim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Perform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operation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cut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align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Class</a:t>
            </a:r>
            <a:r>
              <a:rPr sz="1500" spc="-8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together.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step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creates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single,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continuous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model.</a:t>
            </a: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ts val="1710"/>
              </a:lnSpc>
              <a:spcBef>
                <a:spcPts val="1440"/>
              </a:spcBef>
            </a:pPr>
            <a:r>
              <a:rPr sz="1500" b="1" dirty="0">
                <a:latin typeface="Times New Roman"/>
                <a:cs typeface="Times New Roman"/>
              </a:rPr>
              <a:t>Solid</a:t>
            </a:r>
            <a:r>
              <a:rPr sz="1500" b="1" spc="-30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Conversion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62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Once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validated,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convert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into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body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Close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</a:t>
            </a:r>
            <a:r>
              <a:rPr sz="1500" spc="-10" dirty="0">
                <a:latin typeface="Times New Roman"/>
                <a:cs typeface="Times New Roman"/>
              </a:rPr>
              <a:t> command.</a:t>
            </a:r>
            <a:endParaRPr sz="1500">
              <a:latin typeface="Times New Roman"/>
              <a:cs typeface="Times New Roman"/>
            </a:endParaRPr>
          </a:p>
          <a:p>
            <a:pPr marL="299085" indent="-286385">
              <a:lnSpc>
                <a:spcPts val="1710"/>
              </a:lnSpc>
              <a:buFont typeface="Arial MT"/>
              <a:buChar char="•"/>
              <a:tabLst>
                <a:tab pos="299085" algn="l"/>
              </a:tabLst>
            </a:pPr>
            <a:r>
              <a:rPr sz="1500" dirty="0">
                <a:latin typeface="Times New Roman"/>
                <a:cs typeface="Times New Roman"/>
              </a:rPr>
              <a:t>This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completes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recliner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as a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ready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further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validation.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853" y="2564638"/>
            <a:ext cx="5608065" cy="36075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2054" y="2559177"/>
            <a:ext cx="5416422" cy="36130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Draft</a:t>
            </a:r>
            <a:r>
              <a:rPr spc="-35" dirty="0"/>
              <a:t> </a:t>
            </a:r>
            <a:r>
              <a:rPr dirty="0"/>
              <a:t>analysis</a:t>
            </a:r>
            <a:r>
              <a:rPr spc="-4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solid</a:t>
            </a:r>
            <a:r>
              <a:rPr spc="-25" dirty="0"/>
              <a:t> </a:t>
            </a:r>
            <a:r>
              <a:rPr dirty="0"/>
              <a:t>part</a:t>
            </a:r>
            <a:r>
              <a:rPr spc="-25" dirty="0"/>
              <a:t> </a:t>
            </a:r>
            <a:r>
              <a:rPr dirty="0"/>
              <a:t>for</a:t>
            </a:r>
            <a:r>
              <a:rPr spc="-60" dirty="0"/>
              <a:t> </a:t>
            </a:r>
            <a:r>
              <a:rPr dirty="0"/>
              <a:t>parting</a:t>
            </a:r>
            <a:r>
              <a:rPr spc="-40" dirty="0"/>
              <a:t> </a:t>
            </a:r>
            <a:r>
              <a:rPr dirty="0"/>
              <a:t>line</a:t>
            </a:r>
            <a:r>
              <a:rPr spc="-15" dirty="0"/>
              <a:t> </a:t>
            </a:r>
            <a:r>
              <a:rPr spc="-10" dirty="0"/>
              <a:t>creation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5565" cy="66548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algn="just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performed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on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solid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seat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recliner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model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using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defined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axis.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confirmed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that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most</a:t>
            </a:r>
            <a:r>
              <a:rPr sz="1500" spc="-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</a:t>
            </a:r>
            <a:r>
              <a:rPr sz="1500" spc="-10" dirty="0">
                <a:latin typeface="Times New Roman"/>
                <a:cs typeface="Times New Roman"/>
              </a:rPr>
              <a:t> </a:t>
            </a:r>
            <a:r>
              <a:rPr sz="1500" spc="-20" dirty="0">
                <a:latin typeface="Times New Roman"/>
                <a:cs typeface="Times New Roman"/>
              </a:rPr>
              <a:t>meet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required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3°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angle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cavity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0.5°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core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side,</a:t>
            </a:r>
            <a:r>
              <a:rPr sz="1500" spc="16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ensuring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1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also</a:t>
            </a:r>
            <a:r>
              <a:rPr sz="1500" spc="16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extracted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line.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Overall,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1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</a:t>
            </a:r>
            <a:r>
              <a:rPr sz="1500" spc="155" dirty="0">
                <a:latin typeface="Times New Roman"/>
                <a:cs typeface="Times New Roman"/>
              </a:rPr>
              <a:t> </a:t>
            </a:r>
            <a:r>
              <a:rPr sz="1500" spc="-25" dirty="0">
                <a:latin typeface="Times New Roman"/>
                <a:cs typeface="Times New Roman"/>
              </a:rPr>
              <a:t>is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for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production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feasibility.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175" y="1463039"/>
            <a:ext cx="5367528" cy="36454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57113" y="1463039"/>
            <a:ext cx="5845302" cy="36454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Automotive</a:t>
            </a:r>
            <a:r>
              <a:rPr spc="-45" dirty="0"/>
              <a:t> </a:t>
            </a:r>
            <a:r>
              <a:rPr dirty="0"/>
              <a:t>Seat</a:t>
            </a:r>
            <a:r>
              <a:rPr spc="-30" dirty="0"/>
              <a:t> </a:t>
            </a:r>
            <a:r>
              <a:rPr dirty="0"/>
              <a:t>Recliner</a:t>
            </a:r>
            <a:r>
              <a:rPr spc="-60" dirty="0"/>
              <a:t> </a:t>
            </a:r>
            <a:r>
              <a:rPr dirty="0"/>
              <a:t>Side</a:t>
            </a:r>
            <a:r>
              <a:rPr spc="-70" dirty="0"/>
              <a:t> </a:t>
            </a:r>
            <a:r>
              <a:rPr spc="-20" dirty="0"/>
              <a:t>Trim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915" y="626109"/>
            <a:ext cx="11504930" cy="45974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>
              <a:lnSpc>
                <a:spcPts val="1620"/>
              </a:lnSpc>
              <a:spcBef>
                <a:spcPts val="305"/>
              </a:spcBef>
            </a:pPr>
            <a:r>
              <a:rPr sz="1500" dirty="0">
                <a:latin typeface="Times New Roman"/>
                <a:cs typeface="Times New Roman"/>
              </a:rPr>
              <a:t>Hence,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the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seat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recliner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side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trim</a:t>
            </a:r>
            <a:r>
              <a:rPr sz="1500" spc="21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was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successfully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designed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developed,</a:t>
            </a:r>
            <a:r>
              <a:rPr sz="1500" spc="2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incorporating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Class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A,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B,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2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C</a:t>
            </a:r>
            <a:r>
              <a:rPr sz="1500" spc="2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surfaces,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tooling</a:t>
            </a:r>
            <a:r>
              <a:rPr sz="1500" spc="2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axis,</a:t>
            </a:r>
            <a:r>
              <a:rPr sz="1500" spc="2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229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angle </a:t>
            </a:r>
            <a:r>
              <a:rPr sz="1500" dirty="0">
                <a:latin typeface="Times New Roman"/>
                <a:cs typeface="Times New Roman"/>
              </a:rPr>
              <a:t>requirements,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2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validated</a:t>
            </a:r>
            <a:r>
              <a:rPr sz="1500" spc="-3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through</a:t>
            </a:r>
            <a:r>
              <a:rPr sz="1500" spc="-5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draft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analysis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to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ensure</a:t>
            </a:r>
            <a:r>
              <a:rPr sz="1500" spc="-2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manufacturability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and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finally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finalized</a:t>
            </a:r>
            <a:r>
              <a:rPr sz="1500" spc="-35" dirty="0">
                <a:latin typeface="Times New Roman"/>
                <a:cs typeface="Times New Roman"/>
              </a:rPr>
              <a:t> </a:t>
            </a:r>
            <a:r>
              <a:rPr sz="1500" dirty="0">
                <a:latin typeface="Times New Roman"/>
                <a:cs typeface="Times New Roman"/>
              </a:rPr>
              <a:t>parting</a:t>
            </a:r>
            <a:r>
              <a:rPr sz="1500" spc="-40" dirty="0"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line.</a:t>
            </a:r>
            <a:endParaRPr sz="15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5161" y="1864486"/>
            <a:ext cx="7821676" cy="40333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886</Words>
  <Application>Microsoft Office PowerPoint</Application>
  <PresentationFormat>Widescreen</PresentationFormat>
  <Paragraphs>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 MT</vt:lpstr>
      <vt:lpstr>Calibri</vt:lpstr>
      <vt:lpstr>Times New Roman</vt:lpstr>
      <vt:lpstr>Office Theme</vt:lpstr>
      <vt:lpstr>Seat Recliner Side Trim</vt:lpstr>
      <vt:lpstr>Objective</vt:lpstr>
      <vt:lpstr>Class A Surface Analysis</vt:lpstr>
      <vt:lpstr>Tooling Axis Creation and Class A Surface Draft Analysis</vt:lpstr>
      <vt:lpstr>Tooling Axis Creation and Class A Surface Draft Analysis</vt:lpstr>
      <vt:lpstr>Curvature Analysis</vt:lpstr>
      <vt:lpstr>Class B Surface Development</vt:lpstr>
      <vt:lpstr>Class C Surface Development</vt:lpstr>
      <vt:lpstr>Final Trim and Solid Part Conversion</vt:lpstr>
      <vt:lpstr>Draft analysis on solid part for parting line creation</vt:lpstr>
      <vt:lpstr>Automotive Seat Recliner Side Trim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 Recliner Side Trim</dc:title>
  <dc:creator>Ratikesh Satle</dc:creator>
  <cp:lastModifiedBy>DELL</cp:lastModifiedBy>
  <cp:revision>2</cp:revision>
  <dcterms:created xsi:type="dcterms:W3CDTF">2026-07-24T18:57:42Z</dcterms:created>
  <dcterms:modified xsi:type="dcterms:W3CDTF">2026-07-24T19:22:33Z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2026-05-09T00:00:00Z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2026-07-24T00:00:00Z</vt:filetime>
  </property>
  <property fmtid="{D5CDD505-2E9C-101B-9397-08002B2CF9AE}" pid="6" name="Producer">
    <vt:lpwstr>Microsoft® PowerPoint® 2021</vt:lpwstr>
  </property>
</Properties>
</file>